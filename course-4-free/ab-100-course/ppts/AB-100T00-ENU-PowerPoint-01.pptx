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6"/>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308"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18B4A0-3363-410A-8BCE-F0DA0E76FCDB}" v="22" dt="2026-03-17T01:53:31.9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9369" autoAdjust="0"/>
  </p:normalViewPr>
  <p:slideViewPr>
    <p:cSldViewPr snapToGrid="0" snapToObjects="1">
      <p:cViewPr>
        <p:scale>
          <a:sx n="63" d="100"/>
          <a:sy n="63" d="100"/>
        </p:scale>
        <p:origin x="67" y="7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5913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unit introduces the concept of Agentic AI Business Solution Architecture, emphasizing the strategic nature of AI transformation beyond technology upgrades. It highlights the critical role of architects in bridging business strategy and technical implementation, ensuring responsible AI governance, and scaling AI solutions effectively using Microsoft Azure AI services.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architects have a multifaceted role that includes strategic planning, data governance, integration, ethical AI implementation, and performance monitoring to ensure AI solutions are effective and aligned with organizational goals.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transformation process is systematic and outcome-driven, ensuring long-term business success by progressing through defined phases from goal setting to continuous optimization.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these best practices helps organizations maximize AI investment value while maintaining trust and compliance.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transformation goes beyond technology upgrades to affect organizational culture and processes. Architects play a key role in aligning AI initiatives with business goals while ensuring compliance and scalability.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Architects play a pivotal role in connecting business goals with technical AI solutions, ensuring responsible governance and scalability.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responsibilities of AI architects include strategic vision, data governance, integration, ethical AI implementation, and performance monitoring.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transformation process flows from defining business goals through strategy, design, implementation, and ongoing monitoring and optimization.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https://learn.microsoft.com/en-us/azure/cloud-adoption-framework/scenarios/ai/</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89B26-E9D2-87F7-5B1F-7A45E218F2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4721B7-7E77-920B-6F9A-8A01ABA175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68DB65-0688-A01E-B7A1-E2B881D0E37D}"/>
              </a:ext>
            </a:extLst>
          </p:cNvPr>
          <p:cNvSpPr>
            <a:spLocks noGrp="1"/>
          </p:cNvSpPr>
          <p:nvPr>
            <p:ph type="body" idx="1"/>
          </p:nvPr>
        </p:nvSpPr>
        <p:spPr/>
        <p:txBody>
          <a:bodyPr/>
          <a:lstStyle/>
          <a:p>
            <a:r>
              <a:rPr lang="en-US" dirty="0"/>
              <a:t>The AI transformation process flows from defining business goals through strategy, design, implementation, and ongoing monitoring and optimization.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https://learn.microsoft.com/en-us/azure/cloud-adoption-framework/scenarios/ai/</a:t>
            </a:r>
          </a:p>
          <a:p>
            <a:endParaRPr lang="en-US" dirty="0"/>
          </a:p>
        </p:txBody>
      </p:sp>
      <p:sp>
        <p:nvSpPr>
          <p:cNvPr id="4" name="Slide Number Placeholder 3">
            <a:extLst>
              <a:ext uri="{FF2B5EF4-FFF2-40B4-BE49-F238E27FC236}">
                <a16:creationId xmlns:a16="http://schemas.microsoft.com/office/drawing/2014/main" id="{3EAEED58-3001-FF6A-034C-7A1E10A24E0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586586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Effective AI architecture involves outcome-driven design, modularity, responsible AI, cross-team collaboration, and use of Azure AI services.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AI requires automation, standardization, continuous model learning, and user training to embed AI capabilities enterprise-wide.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 resources for AI architecture and scaling AI in enterprises.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How can architects ensure Responsible AI principles are embedded in enterprise solutions?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Segoe UI" pitchFamily="34" charset="0"/>
                <a:ea typeface="Segoe UI" pitchFamily="34" charset="-122"/>
                <a:cs typeface="Segoe UI" pitchFamily="34" charset="-120"/>
              </a:rPr>
              <a:t>Answer: b) Vision &amp; Roadmap</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objectives cover understanding Microsoft AI services, tools, SDKs, Copilot solutions, and their impact on business productivity and value.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unit covers the foundational concepts and components of Microsoft AI technologies and their role in business solutions.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components include Azure AI services for AI model development and deployment, tools for integration, and Copilot solutions for productivity enhancement.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the phases of Microsoft AI technologies, their goals, key activities, and expected outputs.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representation of the Microsoft AI Ecosystem layers to illustrate the integration of Copilot solutions, Azure AI services, and development tools.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11827"/>
                </a:solidFill>
                <a:latin typeface="Segoe UI" pitchFamily="34" charset="0"/>
                <a:ea typeface="Segoe UI" pitchFamily="34" charset="-122"/>
                <a:cs typeface="Segoe UI" pitchFamily="34" charset="-120"/>
              </a:rPr>
              <a:t>Prompt: Layered diagram of Microsoft AI Ecosystem with Microsoft brand colors showing Top Layer: Copilot Solutions (Microsoft 365, Dynamics 365), Middle Layer: Azure AI Services (Cognitive Services…</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Adopting AI technologies requires focus on measurable outcomes and responsible implementation to maximize business value.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URLs for further learning and reference on Microsoft AI technologies and business value.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questions to assess understanding of Microsoft AI services and Copilot solutions' impact on productivity.
---
Answer: b) Cognitive Services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questions to assess understanding of Microsoft AI services and Copilot solutions' impact on productivity.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provides a range of out-of-the-box AI agent resources designed to help organizations quickly implement AI capabilities without starting from scratch. These resources include prebuilt agents, templates, and tools that integrate seamlessly with Microsoft platforms like Azure AI and Copilot Studio. Out-of-the-box AI agents reduce development time, ensure compliance with best practices, and enable scalability across enterprise environments.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Prebuilt AI Agents: Available through Microsoft Copilot Studio and integrated into Dynamics 365 and Microsoft 365. Designed for common business scenarios such as customer service, sales automation, and workflow optimization.
2. AI Tools and Practices: Azure AI Services (Vision, Speech, Language, Decision APIs), Azure Machine Learning (build, train, deploy models), OpenAI Service (generative AI for natural language tasks).
3. Templates and Scenario Libraries: Ready-to-use templates for creating custom agents and scenario libraries for business process automation and adoption strategies.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diagram illustrating the Microsoft AI Agent Ecosystem with three layers: Top Layer - Copilot Solutions (Microsoft 365, Dynamics 365), Middle Layer - Prebuilt AI Agents and Templates, Bottom Layer - Azure AI Services and Tools.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11827"/>
                </a:solidFill>
                <a:latin typeface="Segoe UI" pitchFamily="34" charset="0"/>
                <a:ea typeface="Segoe UI" pitchFamily="34" charset="-122"/>
                <a:cs typeface="Segoe UI" pitchFamily="34" charset="-120"/>
              </a:rPr>
              <a:t>Prompt: Layered diagram showing Microsoft AI Agent Ecosystem with top layer as Copilot Solutions (Microsoft 365, Dynamics 365), middle layer as Prebuilt AI Agents and Templates, bottom layer as Azu…</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practices emphasize starting with business outcomes, using prebuilt agents for speed, adhering to responsible AI principles, and leveraging Azure AI for scalability and compliance.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is multiple choice with correct answer B) Copilot Studio.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a discussion prompt to explore examples of how prebuilt AI agents accelerate AI adoption.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for further reading on Microsoft AI tools and practices.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layered diagram in PowerPoint for classroom delivery to illustrate the ecosystem structure.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11827"/>
                </a:solidFill>
                <a:latin typeface="Segoe UI" pitchFamily="34" charset="0"/>
                <a:ea typeface="Segoe UI" pitchFamily="34" charset="-122"/>
                <a:cs typeface="Segoe UI" pitchFamily="34" charset="-120"/>
              </a:rPr>
              <a:t>Prompt: Layered diagram showing Microsoft AI Agent Ecosystem with top layer: Copilot Solutions (Microsoft 365, Dynamics 365, Power Platform), middle layer: Prebuilt AI Agents &amp; Templates, bottom la…</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11827"/>
                </a:solidFill>
                <a:latin typeface="Segoe UI" pitchFamily="34" charset="0"/>
                <a:ea typeface="Segoe UI" pitchFamily="34" charset="-122"/>
                <a:cs typeface="Segoe UI" pitchFamily="34" charset="-120"/>
              </a:rPr>
              <a:t>Prompt: Layered diagram showing Microsoft AI Agent Ecosystem with top layer: Copilot Solutions (Microsoft 365, Dynamics 365, Power Platform), middle layer: Prebuilt AI Agents &amp; Templates, bottom la…</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Copilot Studio
---
Discussion Question: How can prebuilt AI agents accelerate AI adoption in an organization? Provide two examples.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Bridging business strategy and technical implementation
---
What is a key responsibility of an AI architect to ensure AI solutions are effective and aligned with business priorities?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Defining the AI adoption vision and roadmap
---
Which best practice should architects follow to scale AI across the enterprise?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Adopt modular and flexible design principles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LT_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LT_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6446520"/>
            <a:ext cx="11247120" cy="274320"/>
          </a:xfrm>
          <a:prstGeom prst="rect">
            <a:avLst/>
          </a:prstGeom>
          <a:noFill/>
          <a:ln/>
        </p:spPr>
        <p:txBody>
          <a:bodyPr wrap="square" rtlCol="0" anchor="ctr"/>
          <a:lstStyle/>
          <a:p>
            <a:pPr marL="0" indent="0">
              <a:buNone/>
            </a:pPr>
            <a:r>
              <a:rPr lang="en-US" sz="900" dirty="0">
                <a:solidFill>
                  <a:srgbClr val="000000"/>
                </a:solidFill>
              </a:rPr>
              <a:t>© Copyright Microsoft Corporation. All rights reserved.</a:t>
            </a:r>
            <a:endParaRPr lang="en-US" sz="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LT_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6446520"/>
            <a:ext cx="11247120" cy="274320"/>
          </a:xfrm>
          <a:prstGeom prst="rect">
            <a:avLst/>
          </a:prstGeom>
          <a:noFill/>
          <a:ln/>
        </p:spPr>
        <p:txBody>
          <a:bodyPr wrap="square" rtlCol="0" anchor="ctr"/>
          <a:lstStyle/>
          <a:p>
            <a:pPr marL="0" indent="0">
              <a:buNone/>
            </a:pPr>
            <a:r>
              <a:rPr lang="en-US" sz="900" dirty="0">
                <a:solidFill>
                  <a:srgbClr val="000000"/>
                </a:solidFill>
              </a:rPr>
              <a:t>© Copyright Microsoft Corporation. All rights reserved.</a:t>
            </a:r>
            <a:endParaRPr lang="en-US" sz="9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LT_KNOWLED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6446520"/>
            <a:ext cx="11247120" cy="274320"/>
          </a:xfrm>
          <a:prstGeom prst="rect">
            <a:avLst/>
          </a:prstGeom>
          <a:noFill/>
          <a:ln/>
        </p:spPr>
        <p:txBody>
          <a:bodyPr wrap="square" rtlCol="0" anchor="ctr"/>
          <a:lstStyle/>
          <a:p>
            <a:pPr marL="0" indent="0">
              <a:buNone/>
            </a:pPr>
            <a:r>
              <a:rPr lang="en-US" sz="900" dirty="0">
                <a:solidFill>
                  <a:srgbClr val="000000"/>
                </a:solidFill>
              </a:rPr>
              <a:t>© Copyright Microsoft Corporation. All rights reserved.</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22960" y="1874520"/>
            <a:ext cx="10789920" cy="1097280"/>
          </a:xfrm>
          <a:prstGeom prst="rect">
            <a:avLst/>
          </a:prstGeom>
          <a:noFill/>
          <a:ln/>
        </p:spPr>
        <p:txBody>
          <a:bodyPr wrap="square" rtlCol="0" anchor="ctr"/>
          <a:lstStyle/>
          <a:p>
            <a:pPr marL="0" indent="0">
              <a:buNone/>
            </a:pPr>
            <a:r>
              <a:rPr lang="en-US" sz="4050" b="1" dirty="0">
                <a:solidFill>
                  <a:srgbClr val="000000"/>
                </a:solidFill>
                <a:latin typeface="Segoe UI" pitchFamily="34" charset="0"/>
                <a:ea typeface="Segoe UI" pitchFamily="34" charset="-122"/>
                <a:cs typeface="Segoe UI" pitchFamily="34" charset="-120"/>
              </a:rPr>
              <a:t>Module: Introduction to Agentic AI Business Solution Architecture 
</a:t>
            </a:r>
            <a:endParaRPr lang="en-US" sz="4050" dirty="0"/>
          </a:p>
        </p:txBody>
      </p:sp>
      <p:sp>
        <p:nvSpPr>
          <p:cNvPr id="3" name="Text 1"/>
          <p:cNvSpPr/>
          <p:nvPr/>
        </p:nvSpPr>
        <p:spPr>
          <a:xfrm>
            <a:off x="822960" y="2971800"/>
            <a:ext cx="10789920" cy="548640"/>
          </a:xfrm>
          <a:prstGeom prst="rect">
            <a:avLst/>
          </a:prstGeom>
          <a:noFill/>
          <a:ln/>
        </p:spPr>
        <p:txBody>
          <a:bodyPr wrap="square" rtlCol="0" anchor="ctr"/>
          <a:lstStyle/>
          <a:p>
            <a:pPr marL="0" indent="0">
              <a:buNone/>
            </a:pPr>
            <a:r>
              <a:rPr lang="en-US" sz="1800" dirty="0">
                <a:solidFill>
                  <a:srgbClr val="000000"/>
                </a:solidFill>
                <a:latin typeface="Segoe UI" pitchFamily="34" charset="0"/>
                <a:ea typeface="Segoe UI" pitchFamily="34" charset="-122"/>
                <a:cs typeface="Segoe UI" pitchFamily="34" charset="-120"/>
              </a:rPr>
              <a:t>module # • 60 min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22960" y="1965960"/>
            <a:ext cx="10789920" cy="914400"/>
          </a:xfrm>
          <a:prstGeom prst="rect">
            <a:avLst/>
          </a:prstGeom>
          <a:noFill/>
          <a:ln/>
        </p:spPr>
        <p:txBody>
          <a:bodyPr wrap="square" rtlCol="0" anchor="ctr"/>
          <a:lstStyle/>
          <a:p>
            <a:pPr marL="0" indent="0">
              <a:buNone/>
            </a:pPr>
            <a:r>
              <a:rPr lang="en-US" sz="4050" b="1" dirty="0">
                <a:solidFill>
                  <a:srgbClr val="000000"/>
                </a:solidFill>
                <a:latin typeface="Segoe UI" pitchFamily="34" charset="0"/>
                <a:ea typeface="Segoe UI" pitchFamily="34" charset="-122"/>
                <a:cs typeface="Segoe UI" pitchFamily="34" charset="-120"/>
              </a:rPr>
              <a:t>Unit: Introduction</a:t>
            </a:r>
            <a:endParaRPr lang="en-US" sz="4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Overview</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AI transformation is a strategic shift impacting business processes, people, and culture</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Architects ensure AI solutions deliver business value with compliance, scalability, and security</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Architects align AI initiatives with organizational objectives and integrate AI into existing systems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Responsible AI governance frameworks and scalable solutions are essential</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AI transformation follows a structured framework from goals to monitoring and optimization</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Best practices include measurable outcomes, modular design, responsible AI, collaboration, and leveraging Microsoft Azure AI services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Key responsibilities of an AI architect</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Define AI adoption vision and roadmap</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Ensure data readiness and governance</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Integrate AI services with enterprise workflows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Implement responsible AI principles such as fairness and transparency</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Monitor performance through clear KPIs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Align AI solutions with business priorities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AI transformation process framework</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Define business goals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Develop AI strategy</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Design architecture</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Implement solutions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Monitor and optimize performance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Best practices for scaling AI across the enterprise</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Start with measurable business outcomes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Adopt modular and flexible design principles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Prioritize responsible AI</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Foster collaboration among stakeholders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Leverage Microsoft Azure AI services for speed and reliability</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22960" y="1965960"/>
            <a:ext cx="10789920" cy="914400"/>
          </a:xfrm>
          <a:prstGeom prst="rect">
            <a:avLst/>
          </a:prstGeom>
          <a:noFill/>
          <a:ln/>
        </p:spPr>
        <p:txBody>
          <a:bodyPr wrap="square" rtlCol="0" anchor="ctr"/>
          <a:lstStyle/>
          <a:p>
            <a:pPr marL="0" indent="0">
              <a:buNone/>
            </a:pPr>
            <a:r>
              <a:rPr lang="en-US" sz="4050" b="1" dirty="0">
                <a:solidFill>
                  <a:srgbClr val="000000"/>
                </a:solidFill>
                <a:latin typeface="Segoe UI" pitchFamily="34" charset="0"/>
                <a:ea typeface="Segoe UI" pitchFamily="34" charset="-122"/>
                <a:cs typeface="Segoe UI" pitchFamily="34" charset="-120"/>
              </a:rPr>
              <a:t>Unit: Role of the Architect in AI Transformation for Businesses</a:t>
            </a:r>
            <a:endParaRPr lang="en-US" sz="4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Learning objectives</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Explain the architect’s role in driving AI adoption and transformation.</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Identify key responsibilities of an AI architect in business contexts.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Understand how architects align AI solutions with organizational goals.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Apply best practices for scaling AI across enterprise environments.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Overview</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AI transformation is a strategic shift impacting processes, people, and culture.</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Architects ensure AI solutions deliver measurable business value.</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Focus on compliance, scalability, and security in AI implementations.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Architect’s Role in AI Transformation</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Bridge gap between business strategy and technical implementation.</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Ensure AI initiatives support organizational objectives (Strategic Alignment).</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Design architectures integrating AI into existing systems (Solution Design).</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Establish frameworks for responsible AI use (Governance and Compliance).</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Design scalable solutions to grow with business needs.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AI Architect Responsibilities</a:t>
            </a:r>
            <a:endParaRPr lang="en-US" sz="3250" dirty="0"/>
          </a:p>
        </p:txBody>
      </p:sp>
      <p:graphicFrame>
        <p:nvGraphicFramePr>
          <p:cNvPr id="12" name="Table 0"/>
          <p:cNvGraphicFramePr>
            <a:graphicFrameLocks noGrp="1"/>
          </p:cNvGraphicFramePr>
          <p:nvPr>
            <p:extLst>
              <p:ext uri="{D42A27DB-BD31-4B8C-83A1-F6EECF244321}">
                <p14:modId xmlns:p14="http://schemas.microsoft.com/office/powerpoint/2010/main" val="2023616793"/>
              </p:ext>
            </p:extLst>
          </p:nvPr>
        </p:nvGraphicFramePr>
        <p:xfrm>
          <a:off x="2142309" y="1772920"/>
          <a:ext cx="6958511" cy="3566160"/>
        </p:xfrm>
        <a:graphic>
          <a:graphicData uri="http://schemas.openxmlformats.org/drawingml/2006/table">
            <a:tbl>
              <a:tblPr/>
              <a:tblGrid>
                <a:gridCol w="2159725">
                  <a:extLst>
                    <a:ext uri="{9D8B030D-6E8A-4147-A177-3AD203B41FA5}">
                      <a16:colId xmlns:a16="http://schemas.microsoft.com/office/drawing/2014/main" val="20000"/>
                    </a:ext>
                  </a:extLst>
                </a:gridCol>
                <a:gridCol w="4798786">
                  <a:extLst>
                    <a:ext uri="{9D8B030D-6E8A-4147-A177-3AD203B41FA5}">
                      <a16:colId xmlns:a16="http://schemas.microsoft.com/office/drawing/2014/main" val="20001"/>
                    </a:ext>
                  </a:extLst>
                </a:gridCol>
              </a:tblGrid>
              <a:tr h="594360">
                <a:tc>
                  <a:txBody>
                    <a:bodyPr/>
                    <a:lstStyle/>
                    <a:p>
                      <a:pPr marL="0" indent="0">
                        <a:buNone/>
                      </a:pPr>
                      <a:r>
                        <a:rPr lang="en-US" sz="1200" b="1" dirty="0">
                          <a:solidFill>
                            <a:srgbClr val="000000"/>
                          </a:solidFill>
                          <a:latin typeface="Segoe UI" pitchFamily="34" charset="0"/>
                          <a:ea typeface="Segoe UI" pitchFamily="34" charset="-122"/>
                          <a:cs typeface="Segoe UI" pitchFamily="34" charset="-120"/>
                        </a:rPr>
                        <a:t>Responsibility</a:t>
                      </a:r>
                      <a:endParaRPr lang="en-US" sz="1200" b="1"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b="1" dirty="0">
                          <a:solidFill>
                            <a:srgbClr val="000000"/>
                          </a:solidFill>
                          <a:latin typeface="Segoe UI" pitchFamily="34" charset="0"/>
                          <a:ea typeface="Segoe UI" pitchFamily="34" charset="-122"/>
                          <a:cs typeface="Segoe UI" pitchFamily="34" charset="-120"/>
                        </a:rPr>
                        <a:t>Description</a:t>
                      </a:r>
                      <a:endParaRPr lang="en-US" sz="1200" b="1"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94360">
                <a:tc>
                  <a:txBody>
                    <a:bodyPr/>
                    <a:lstStyle/>
                    <a:p>
                      <a:pPr marL="0" indent="0">
                        <a:buNone/>
                      </a:pPr>
                      <a:r>
                        <a:rPr lang="en-US" sz="1200" b="0" dirty="0">
                          <a:solidFill>
                            <a:srgbClr val="000000"/>
                          </a:solidFill>
                          <a:latin typeface="Segoe UI" pitchFamily="34" charset="0"/>
                          <a:ea typeface="Segoe UI" pitchFamily="34" charset="-122"/>
                          <a:cs typeface="Segoe UI" pitchFamily="34" charset="-120"/>
                        </a:rPr>
                        <a:t>Vision &amp; Roadmap</a:t>
                      </a:r>
                      <a:endParaRPr lang="en-US" sz="1200" b="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dirty="0">
                          <a:solidFill>
                            <a:srgbClr val="000000"/>
                          </a:solidFill>
                          <a:latin typeface="Segoe UI" pitchFamily="34" charset="0"/>
                          <a:ea typeface="Segoe UI" pitchFamily="34" charset="-122"/>
                          <a:cs typeface="Segoe UI" pitchFamily="34" charset="-120"/>
                        </a:rPr>
                        <a:t>Define AI adoption strategy aligned with priorities</a:t>
                      </a:r>
                      <a:endParaRPr lang="en-US" sz="120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buNone/>
                      </a:pPr>
                      <a:r>
                        <a:rPr lang="en-US" sz="1200" b="0" dirty="0">
                          <a:solidFill>
                            <a:srgbClr val="000000"/>
                          </a:solidFill>
                          <a:latin typeface="Segoe UI" pitchFamily="34" charset="0"/>
                          <a:ea typeface="Segoe UI" pitchFamily="34" charset="-122"/>
                          <a:cs typeface="Segoe UI" pitchFamily="34" charset="-120"/>
                        </a:rPr>
                        <a:t>Data Architecture</a:t>
                      </a:r>
                      <a:endParaRPr lang="en-US" sz="1200" b="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dirty="0">
                          <a:solidFill>
                            <a:srgbClr val="000000"/>
                          </a:solidFill>
                          <a:latin typeface="Segoe UI" pitchFamily="34" charset="0"/>
                          <a:ea typeface="Segoe UI" pitchFamily="34" charset="-122"/>
                          <a:cs typeface="Segoe UI" pitchFamily="34" charset="-120"/>
                        </a:rPr>
                        <a:t>Ensure data readiness and governance</a:t>
                      </a:r>
                      <a:endParaRPr lang="en-US" sz="120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94360">
                <a:tc>
                  <a:txBody>
                    <a:bodyPr/>
                    <a:lstStyle/>
                    <a:p>
                      <a:pPr marL="0" indent="0">
                        <a:buNone/>
                      </a:pPr>
                      <a:r>
                        <a:rPr lang="en-US" sz="1200" b="0" dirty="0">
                          <a:solidFill>
                            <a:srgbClr val="000000"/>
                          </a:solidFill>
                          <a:latin typeface="Segoe UI" pitchFamily="34" charset="0"/>
                          <a:ea typeface="Segoe UI" pitchFamily="34" charset="-122"/>
                          <a:cs typeface="Segoe UI" pitchFamily="34" charset="-120"/>
                        </a:rPr>
                        <a:t>Integration</a:t>
                      </a:r>
                      <a:endParaRPr lang="en-US" sz="1200" b="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dirty="0">
                          <a:solidFill>
                            <a:srgbClr val="000000"/>
                          </a:solidFill>
                          <a:latin typeface="Segoe UI" pitchFamily="34" charset="0"/>
                          <a:ea typeface="Segoe UI" pitchFamily="34" charset="-122"/>
                          <a:cs typeface="Segoe UI" pitchFamily="34" charset="-120"/>
                        </a:rPr>
                        <a:t>Connect AI services with enterprise workflows</a:t>
                      </a:r>
                      <a:endParaRPr lang="en-US" sz="120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94360">
                <a:tc>
                  <a:txBody>
                    <a:bodyPr/>
                    <a:lstStyle/>
                    <a:p>
                      <a:pPr marL="0" indent="0">
                        <a:buNone/>
                      </a:pPr>
                      <a:r>
                        <a:rPr lang="en-US" sz="1200" b="0" dirty="0">
                          <a:solidFill>
                            <a:srgbClr val="000000"/>
                          </a:solidFill>
                          <a:latin typeface="Segoe UI" pitchFamily="34" charset="0"/>
                          <a:ea typeface="Segoe UI" pitchFamily="34" charset="-122"/>
                          <a:cs typeface="Segoe UI" pitchFamily="34" charset="-120"/>
                        </a:rPr>
                        <a:t>Security &amp; Ethics</a:t>
                      </a:r>
                      <a:endParaRPr lang="en-US" sz="1200" b="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dirty="0">
                          <a:solidFill>
                            <a:srgbClr val="000000"/>
                          </a:solidFill>
                          <a:latin typeface="Segoe UI" pitchFamily="34" charset="0"/>
                          <a:ea typeface="Segoe UI" pitchFamily="34" charset="-122"/>
                          <a:cs typeface="Segoe UI" pitchFamily="34" charset="-120"/>
                        </a:rPr>
                        <a:t>Implement responsible AI principles</a:t>
                      </a:r>
                      <a:endParaRPr lang="en-US" sz="120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94360">
                <a:tc>
                  <a:txBody>
                    <a:bodyPr/>
                    <a:lstStyle/>
                    <a:p>
                      <a:pPr marL="0" indent="0">
                        <a:buNone/>
                      </a:pPr>
                      <a:r>
                        <a:rPr lang="en-US" sz="1200" b="0" dirty="0">
                          <a:solidFill>
                            <a:srgbClr val="000000"/>
                          </a:solidFill>
                          <a:latin typeface="Segoe UI" pitchFamily="34" charset="0"/>
                          <a:ea typeface="Segoe UI" pitchFamily="34" charset="-122"/>
                          <a:cs typeface="Segoe UI" pitchFamily="34" charset="-120"/>
                        </a:rPr>
                        <a:t>Performance Monitoring</a:t>
                      </a:r>
                      <a:endParaRPr lang="en-US" sz="1200" b="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dirty="0">
                          <a:solidFill>
                            <a:srgbClr val="000000"/>
                          </a:solidFill>
                          <a:latin typeface="Segoe UI" pitchFamily="34" charset="0"/>
                          <a:ea typeface="Segoe UI" pitchFamily="34" charset="-122"/>
                          <a:cs typeface="Segoe UI" pitchFamily="34" charset="-120"/>
                        </a:rPr>
                        <a:t>Establish KPIs and monitor effectiveness</a:t>
                      </a:r>
                      <a:endParaRPr lang="en-US" sz="120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AI Transformation Framework</a:t>
            </a:r>
            <a:endParaRPr lang="en-US" sz="3250" dirty="0"/>
          </a:p>
        </p:txBody>
      </p:sp>
      <p:pic>
        <p:nvPicPr>
          <p:cNvPr id="6" name="Picture 5">
            <a:extLst>
              <a:ext uri="{FF2B5EF4-FFF2-40B4-BE49-F238E27FC236}">
                <a16:creationId xmlns:a16="http://schemas.microsoft.com/office/drawing/2014/main" id="{F41B1612-3D37-5217-BBC6-622B9C74522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5668" y="2133600"/>
            <a:ext cx="10837429" cy="2097024"/>
          </a:xfrm>
          <a:prstGeom prst="rect">
            <a:avLst/>
          </a:prstGeom>
          <a:noFill/>
          <a:ln>
            <a:solidFill>
              <a:schemeClr val="tx1"/>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C0868-7611-2C7E-84A2-223C0B35689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6A24D8-6630-0767-5750-CF6CE36AACDB}"/>
              </a:ext>
            </a:extLst>
          </p:cNvPr>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AI Transformation Framework</a:t>
            </a:r>
            <a:endParaRPr lang="en-US" sz="3250" dirty="0"/>
          </a:p>
        </p:txBody>
      </p:sp>
      <p:pic>
        <p:nvPicPr>
          <p:cNvPr id="8" name="Picture 7">
            <a:extLst>
              <a:ext uri="{FF2B5EF4-FFF2-40B4-BE49-F238E27FC236}">
                <a16:creationId xmlns:a16="http://schemas.microsoft.com/office/drawing/2014/main" id="{CFC60B01-EAC2-8001-C409-E619E7F48391}"/>
              </a:ext>
            </a:extLst>
          </p:cNvPr>
          <p:cNvPicPr>
            <a:picLocks noChangeAspect="1"/>
          </p:cNvPicPr>
          <p:nvPr/>
        </p:nvPicPr>
        <p:blipFill>
          <a:blip r:embed="rId3"/>
          <a:stretch>
            <a:fillRect/>
          </a:stretch>
        </p:blipFill>
        <p:spPr>
          <a:xfrm>
            <a:off x="1005601" y="475349"/>
            <a:ext cx="9979391" cy="5808403"/>
          </a:xfrm>
          <a:prstGeom prst="rect">
            <a:avLst/>
          </a:prstGeom>
        </p:spPr>
      </p:pic>
    </p:spTree>
    <p:extLst>
      <p:ext uri="{BB962C8B-B14F-4D97-AF65-F5344CB8AC3E}">
        <p14:creationId xmlns:p14="http://schemas.microsoft.com/office/powerpoint/2010/main" val="1575024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Best Practices for AI Architects</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Start with business outcomes focusing on measurable impact.</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Adopt modular design for flexibility and scalability.</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Prioritize Responsible AI principles: fairness, transparency, accountability.</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Collaborate across teams: data scientists, developers, business leaders.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Leverage Azure AI services for speed and reliability.</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Scaling AI Across the Enterprise</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a:t>
            </a:r>
            <a:r>
              <a:rPr lang="en-US" sz="2000" b="1" dirty="0">
                <a:solidFill>
                  <a:srgbClr val="000000"/>
                </a:solidFill>
                <a:latin typeface="Segoe UI" pitchFamily="34" charset="0"/>
                <a:ea typeface="Segoe UI" pitchFamily="34" charset="-122"/>
                <a:cs typeface="Segoe UI" pitchFamily="34" charset="-120"/>
              </a:rPr>
              <a:t>Automation</a:t>
            </a:r>
            <a:r>
              <a:rPr lang="en-US" sz="2000" dirty="0">
                <a:solidFill>
                  <a:srgbClr val="000000"/>
                </a:solidFill>
                <a:latin typeface="Segoe UI" pitchFamily="34" charset="0"/>
                <a:ea typeface="Segoe UI" pitchFamily="34" charset="-122"/>
                <a:cs typeface="Segoe UI" pitchFamily="34" charset="-120"/>
              </a:rPr>
              <a:t> to streamline deployment and monitoring.</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a:t>
            </a:r>
            <a:r>
              <a:rPr lang="en-US" sz="2000" b="1" dirty="0">
                <a:solidFill>
                  <a:srgbClr val="000000"/>
                </a:solidFill>
                <a:latin typeface="Segoe UI" pitchFamily="34" charset="0"/>
                <a:ea typeface="Segoe UI" pitchFamily="34" charset="-122"/>
                <a:cs typeface="Segoe UI" pitchFamily="34" charset="-120"/>
              </a:rPr>
              <a:t>Standardization</a:t>
            </a:r>
            <a:r>
              <a:rPr lang="en-US" sz="2000" dirty="0">
                <a:solidFill>
                  <a:srgbClr val="000000"/>
                </a:solidFill>
                <a:latin typeface="Segoe UI" pitchFamily="34" charset="0"/>
                <a:ea typeface="Segoe UI" pitchFamily="34" charset="-122"/>
                <a:cs typeface="Segoe UI" pitchFamily="34" charset="-120"/>
              </a:rPr>
              <a:t> using common frameworks and tools.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a:t>
            </a:r>
            <a:r>
              <a:rPr lang="en-US" sz="2000" b="1" dirty="0">
                <a:solidFill>
                  <a:srgbClr val="000000"/>
                </a:solidFill>
                <a:latin typeface="Segoe UI" pitchFamily="34" charset="0"/>
                <a:ea typeface="Segoe UI" pitchFamily="34" charset="-122"/>
                <a:cs typeface="Segoe UI" pitchFamily="34" charset="-120"/>
              </a:rPr>
              <a:t>Continuous learning </a:t>
            </a:r>
            <a:r>
              <a:rPr lang="en-US" sz="2000" dirty="0">
                <a:solidFill>
                  <a:srgbClr val="000000"/>
                </a:solidFill>
                <a:latin typeface="Segoe UI" pitchFamily="34" charset="0"/>
                <a:ea typeface="Segoe UI" pitchFamily="34" charset="-122"/>
                <a:cs typeface="Segoe UI" pitchFamily="34" charset="-120"/>
              </a:rPr>
              <a:t>enabling models to evolve with new data.</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a:t>
            </a:r>
            <a:r>
              <a:rPr lang="en-US" sz="2000" b="1" dirty="0">
                <a:solidFill>
                  <a:srgbClr val="000000"/>
                </a:solidFill>
                <a:latin typeface="Segoe UI" pitchFamily="34" charset="0"/>
                <a:ea typeface="Segoe UI" pitchFamily="34" charset="-122"/>
                <a:cs typeface="Segoe UI" pitchFamily="34" charset="-120"/>
              </a:rPr>
              <a:t>User training </a:t>
            </a:r>
            <a:r>
              <a:rPr lang="en-US" sz="2000" dirty="0">
                <a:solidFill>
                  <a:srgbClr val="000000"/>
                </a:solidFill>
                <a:latin typeface="Segoe UI" pitchFamily="34" charset="0"/>
                <a:ea typeface="Segoe UI" pitchFamily="34" charset="-122"/>
                <a:cs typeface="Segoe UI" pitchFamily="34" charset="-120"/>
              </a:rPr>
              <a:t>to foster a culture of continuous learning.</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References</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https://info.microsoft.com/ww-landing-Azure-Data-and-Architect-Handbook.html</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https://www.microsoft.com/en-us/ai?msockid=1e655f68c35d65753a8c49b1c22864c2</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https://learn.microsoft.com/en-us/training/modules/scale-ai/2-unlock-ai-value</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31520" y="594360"/>
            <a:ext cx="7315200" cy="457200"/>
          </a:xfrm>
          <a:prstGeom prst="rect">
            <a:avLst/>
          </a:prstGeom>
          <a:noFill/>
          <a:ln/>
        </p:spPr>
        <p:txBody>
          <a:bodyPr wrap="square" rtlCol="0" anchor="ctr"/>
          <a:lstStyle/>
          <a:p>
            <a:pPr marL="0" indent="0">
              <a:buNone/>
            </a:pPr>
            <a:r>
              <a:rPr lang="en-US" sz="2000" dirty="0">
                <a:solidFill>
                  <a:srgbClr val="000000"/>
                </a:solidFill>
                <a:latin typeface="Segoe UI" pitchFamily="34" charset="0"/>
                <a:ea typeface="Segoe UI" pitchFamily="34" charset="-122"/>
                <a:cs typeface="Segoe UI" pitchFamily="34" charset="-120"/>
              </a:rPr>
              <a:t>Knowledge check</a:t>
            </a:r>
            <a:endParaRPr lang="en-US" sz="2000" dirty="0"/>
          </a:p>
        </p:txBody>
      </p:sp>
      <p:sp>
        <p:nvSpPr>
          <p:cNvPr id="3" name="Text 1"/>
          <p:cNvSpPr/>
          <p:nvPr/>
        </p:nvSpPr>
        <p:spPr>
          <a:xfrm>
            <a:off x="4023360" y="2331720"/>
            <a:ext cx="5486400" cy="365760"/>
          </a:xfrm>
          <a:prstGeom prst="rect">
            <a:avLst/>
          </a:prstGeom>
          <a:noFill/>
          <a:ln/>
        </p:spPr>
        <p:txBody>
          <a:bodyPr wrap="square" rtlCol="0" anchor="ctr"/>
          <a:lstStyle/>
          <a:p>
            <a:pPr marL="0" indent="0">
              <a:buNone/>
            </a:pPr>
            <a:r>
              <a:rPr lang="en-US" sz="1800" b="1" dirty="0">
                <a:solidFill>
                  <a:srgbClr val="000000"/>
                </a:solidFill>
                <a:latin typeface="Segoe UI" pitchFamily="34" charset="0"/>
                <a:ea typeface="Segoe UI" pitchFamily="34" charset="-122"/>
                <a:cs typeface="Segoe UI" pitchFamily="34" charset="-120"/>
              </a:rPr>
              <a:t>Question 1</a:t>
            </a:r>
            <a:endParaRPr lang="en-US" sz="1800" dirty="0"/>
          </a:p>
        </p:txBody>
      </p:sp>
      <p:sp>
        <p:nvSpPr>
          <p:cNvPr id="4" name="Text 2"/>
          <p:cNvSpPr/>
          <p:nvPr/>
        </p:nvSpPr>
        <p:spPr>
          <a:xfrm>
            <a:off x="4023360" y="2788920"/>
            <a:ext cx="7589520" cy="1463040"/>
          </a:xfrm>
          <a:prstGeom prst="rect">
            <a:avLst/>
          </a:prstGeom>
          <a:noFill/>
          <a:ln/>
        </p:spPr>
        <p:txBody>
          <a:bodyPr wrap="square" rtlCol="0" anchor="t"/>
          <a:lstStyle/>
          <a:p>
            <a:pPr marL="0" indent="0">
              <a:buNone/>
            </a:pPr>
            <a:r>
              <a:rPr lang="en-US" sz="2600" dirty="0">
                <a:solidFill>
                  <a:srgbClr val="000000"/>
                </a:solidFill>
                <a:latin typeface="Segoe UI" pitchFamily="34" charset="0"/>
                <a:ea typeface="Segoe UI" pitchFamily="34" charset="-122"/>
                <a:cs typeface="Segoe UI" pitchFamily="34" charset="-120"/>
              </a:rPr>
              <a:t>Which responsibility ensures AI initiatives align with business priorities?</a:t>
            </a:r>
            <a:endParaRPr lang="en-US" sz="2600" dirty="0"/>
          </a:p>
        </p:txBody>
      </p:sp>
      <p:sp>
        <p:nvSpPr>
          <p:cNvPr id="5" name="Text 3"/>
          <p:cNvSpPr/>
          <p:nvPr/>
        </p:nvSpPr>
        <p:spPr>
          <a:xfrm>
            <a:off x="4160520" y="4343400"/>
            <a:ext cx="7498080" cy="128016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a) Integration</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b) Vision &amp; Roadmap</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c) Performance Monitoring</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d) Data Architecture</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22960" y="1965960"/>
            <a:ext cx="10789920" cy="914400"/>
          </a:xfrm>
          <a:prstGeom prst="rect">
            <a:avLst/>
          </a:prstGeom>
          <a:noFill/>
          <a:ln/>
        </p:spPr>
        <p:txBody>
          <a:bodyPr wrap="square" rtlCol="0" anchor="ctr"/>
          <a:lstStyle/>
          <a:p>
            <a:pPr marL="0" indent="0">
              <a:buNone/>
            </a:pPr>
            <a:r>
              <a:rPr lang="en-US" sz="4050" b="1" dirty="0">
                <a:solidFill>
                  <a:srgbClr val="000000"/>
                </a:solidFill>
                <a:latin typeface="Segoe UI" pitchFamily="34" charset="0"/>
                <a:ea typeface="Segoe UI" pitchFamily="34" charset="-122"/>
                <a:cs typeface="Segoe UI" pitchFamily="34" charset="-120"/>
              </a:rPr>
              <a:t>Unit: Overview of Microsoft AI Technologies</a:t>
            </a:r>
            <a:endParaRPr lang="en-US" sz="4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Learning objectives</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Identify core Microsoft AI services and tools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Understand SDKs and development environments for Azure AI</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Explore Microsoft Copilot solutions and their business value</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Identify core Microsoft AI technologies and their role in business solutions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Explain how AI technologies create business value</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Understand how generative AI unlocks productivity in enterprise environments</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Overview</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Microsoft AI technologies empower organizations to build intelligent solutions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Enhance productivity, improve decision-making, and deliver measurable business value</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Introduces key Azure AI services, development tools, and Copilot solutions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Tools help businesses innovate, automate, and scale processes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Support measurable outcomes and enhanced collaboration</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Core Components of Microsoft AI Technologies</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Azure AI Services: Cognitive Services, Azure Machine Learning, Azure OpenAI Service, Azure Foundry</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Tools and SDKs: Azure Machine Learning Studio, SDKs, APIs, CLI, REST APIs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Microsoft Copilot Solutions: Embedded AI in Microsoft 365 and Dynamics 365</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Copilot automates tasks, generates content, and provides actionable insights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Enhances productivity across business processes</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Phase-by-phase guidance</a:t>
            </a:r>
            <a:endParaRPr lang="en-US" sz="3250" dirty="0"/>
          </a:p>
        </p:txBody>
      </p:sp>
      <p:graphicFrame>
        <p:nvGraphicFramePr>
          <p:cNvPr id="22" name="Table 0"/>
          <p:cNvGraphicFramePr>
            <a:graphicFrameLocks noGrp="1"/>
          </p:cNvGraphicFramePr>
          <p:nvPr>
            <p:extLst>
              <p:ext uri="{D42A27DB-BD31-4B8C-83A1-F6EECF244321}">
                <p14:modId xmlns:p14="http://schemas.microsoft.com/office/powerpoint/2010/main" val="3499352931"/>
              </p:ext>
            </p:extLst>
          </p:nvPr>
        </p:nvGraphicFramePr>
        <p:xfrm>
          <a:off x="1001486" y="1903911"/>
          <a:ext cx="9788435" cy="3050177"/>
        </p:xfrm>
        <a:graphic>
          <a:graphicData uri="http://schemas.openxmlformats.org/drawingml/2006/table">
            <a:tbl>
              <a:tblPr/>
              <a:tblGrid>
                <a:gridCol w="1663551">
                  <a:extLst>
                    <a:ext uri="{9D8B030D-6E8A-4147-A177-3AD203B41FA5}">
                      <a16:colId xmlns:a16="http://schemas.microsoft.com/office/drawing/2014/main" val="20000"/>
                    </a:ext>
                  </a:extLst>
                </a:gridCol>
                <a:gridCol w="2725569">
                  <a:extLst>
                    <a:ext uri="{9D8B030D-6E8A-4147-A177-3AD203B41FA5}">
                      <a16:colId xmlns:a16="http://schemas.microsoft.com/office/drawing/2014/main" val="20001"/>
                    </a:ext>
                  </a:extLst>
                </a:gridCol>
                <a:gridCol w="2952206">
                  <a:extLst>
                    <a:ext uri="{9D8B030D-6E8A-4147-A177-3AD203B41FA5}">
                      <a16:colId xmlns:a16="http://schemas.microsoft.com/office/drawing/2014/main" val="20002"/>
                    </a:ext>
                  </a:extLst>
                </a:gridCol>
                <a:gridCol w="2447109">
                  <a:extLst>
                    <a:ext uri="{9D8B030D-6E8A-4147-A177-3AD203B41FA5}">
                      <a16:colId xmlns:a16="http://schemas.microsoft.com/office/drawing/2014/main" val="20003"/>
                    </a:ext>
                  </a:extLst>
                </a:gridCol>
              </a:tblGrid>
              <a:tr h="375557">
                <a:tc>
                  <a:txBody>
                    <a:bodyPr/>
                    <a:lstStyle/>
                    <a:p>
                      <a:pPr marL="0" indent="0">
                        <a:buNone/>
                      </a:pPr>
                      <a:r>
                        <a:rPr lang="en-US" sz="1200" b="1" dirty="0">
                          <a:solidFill>
                            <a:srgbClr val="000000"/>
                          </a:solidFill>
                          <a:latin typeface="Segoe UI" pitchFamily="34" charset="0"/>
                          <a:ea typeface="Segoe UI" pitchFamily="34" charset="-122"/>
                          <a:cs typeface="Segoe UI" pitchFamily="34" charset="-120"/>
                        </a:rPr>
                        <a:t>Phase</a:t>
                      </a:r>
                      <a:endParaRPr lang="en-US" sz="1200" b="1"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b="1" dirty="0">
                          <a:solidFill>
                            <a:srgbClr val="000000"/>
                          </a:solidFill>
                          <a:latin typeface="Segoe UI" pitchFamily="34" charset="0"/>
                          <a:ea typeface="Segoe UI" pitchFamily="34" charset="-122"/>
                          <a:cs typeface="Segoe UI" pitchFamily="34" charset="-120"/>
                        </a:rPr>
                        <a:t>Goals</a:t>
                      </a:r>
                      <a:endParaRPr lang="en-US" sz="1200" b="1"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b="1" dirty="0">
                          <a:solidFill>
                            <a:srgbClr val="000000"/>
                          </a:solidFill>
                          <a:latin typeface="Segoe UI" pitchFamily="34" charset="0"/>
                          <a:ea typeface="Segoe UI" pitchFamily="34" charset="-122"/>
                          <a:cs typeface="Segoe UI" pitchFamily="34" charset="-120"/>
                        </a:rPr>
                        <a:t>Key activities</a:t>
                      </a:r>
                      <a:endParaRPr lang="en-US" sz="1200" b="1"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b="1" dirty="0">
                          <a:solidFill>
                            <a:srgbClr val="000000"/>
                          </a:solidFill>
                          <a:latin typeface="Segoe UI" pitchFamily="34" charset="0"/>
                          <a:ea typeface="Segoe UI" pitchFamily="34" charset="-122"/>
                          <a:cs typeface="Segoe UI" pitchFamily="34" charset="-120"/>
                        </a:rPr>
                        <a:t>Outputs</a:t>
                      </a:r>
                      <a:endParaRPr lang="en-US" sz="1200" b="1"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91540">
                <a:tc>
                  <a:txBody>
                    <a:bodyPr/>
                    <a:lstStyle/>
                    <a:p>
                      <a:pPr marL="0" indent="0">
                        <a:buNone/>
                      </a:pPr>
                      <a:r>
                        <a:rPr lang="en-US" sz="1200" dirty="0">
                          <a:solidFill>
                            <a:srgbClr val="000000"/>
                          </a:solidFill>
                          <a:latin typeface="Segoe UI" pitchFamily="34" charset="0"/>
                          <a:ea typeface="Segoe UI" pitchFamily="34" charset="-122"/>
                          <a:cs typeface="Segoe UI" pitchFamily="34" charset="-120"/>
                        </a:rPr>
                        <a:t>Azure AI Services</a:t>
                      </a:r>
                      <a:endParaRPr lang="en-US" sz="120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dirty="0">
                          <a:solidFill>
                            <a:srgbClr val="000000"/>
                          </a:solidFill>
                          <a:latin typeface="Segoe UI" pitchFamily="34" charset="0"/>
                          <a:ea typeface="Segoe UI" pitchFamily="34" charset="-122"/>
                          <a:cs typeface="Segoe UI" pitchFamily="34" charset="-120"/>
                        </a:rPr>
                        <a:t>Provide AI capabilities via APIs and platforms</a:t>
                      </a:r>
                      <a:endParaRPr lang="en-US" sz="120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dirty="0">
                          <a:solidFill>
                            <a:srgbClr val="000000"/>
                          </a:solidFill>
                          <a:latin typeface="Segoe UI" pitchFamily="34" charset="0"/>
                          <a:ea typeface="Segoe UI" pitchFamily="34" charset="-122"/>
                          <a:cs typeface="Segoe UI" pitchFamily="34" charset="-120"/>
                        </a:rPr>
                        <a:t>Develop, train, deploy AI models; access generative AI</a:t>
                      </a:r>
                      <a:endParaRPr lang="en-US" sz="120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dirty="0">
                          <a:solidFill>
                            <a:srgbClr val="000000"/>
                          </a:solidFill>
                          <a:latin typeface="Segoe UI" pitchFamily="34" charset="0"/>
                          <a:ea typeface="Segoe UI" pitchFamily="34" charset="-122"/>
                          <a:cs typeface="Segoe UI" pitchFamily="34" charset="-120"/>
                        </a:rPr>
                        <a:t>Prebuilt APIs, ML models, generative AI services</a:t>
                      </a:r>
                      <a:endParaRPr lang="en-US" sz="120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91540">
                <a:tc>
                  <a:txBody>
                    <a:bodyPr/>
                    <a:lstStyle/>
                    <a:p>
                      <a:pPr marL="0" indent="0">
                        <a:buNone/>
                      </a:pPr>
                      <a:r>
                        <a:rPr lang="en-US" sz="1200" dirty="0">
                          <a:solidFill>
                            <a:srgbClr val="000000"/>
                          </a:solidFill>
                          <a:latin typeface="Segoe UI" pitchFamily="34" charset="0"/>
                          <a:ea typeface="Segoe UI" pitchFamily="34" charset="-122"/>
                          <a:cs typeface="Segoe UI" pitchFamily="34" charset="-120"/>
                        </a:rPr>
                        <a:t>Tools and SDKs</a:t>
                      </a:r>
                      <a:endParaRPr lang="en-US" sz="120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dirty="0">
                          <a:solidFill>
                            <a:srgbClr val="000000"/>
                          </a:solidFill>
                          <a:latin typeface="Segoe UI" pitchFamily="34" charset="0"/>
                          <a:ea typeface="Segoe UI" pitchFamily="34" charset="-122"/>
                          <a:cs typeface="Segoe UI" pitchFamily="34" charset="-120"/>
                        </a:rPr>
                        <a:t>Enable AI integration and automation</a:t>
                      </a:r>
                      <a:endParaRPr lang="en-US" sz="120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dirty="0">
                          <a:solidFill>
                            <a:srgbClr val="000000"/>
                          </a:solidFill>
                          <a:latin typeface="Segoe UI" pitchFamily="34" charset="0"/>
                          <a:ea typeface="Segoe UI" pitchFamily="34" charset="-122"/>
                          <a:cs typeface="Segoe UI" pitchFamily="34" charset="-120"/>
                        </a:rPr>
                        <a:t>Use SDKs, APIs, CLI, REST APIs for development and workflows</a:t>
                      </a:r>
                      <a:endParaRPr lang="en-US" sz="120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dirty="0">
                          <a:solidFill>
                            <a:srgbClr val="000000"/>
                          </a:solidFill>
                          <a:latin typeface="Segoe UI" pitchFamily="34" charset="0"/>
                          <a:ea typeface="Segoe UI" pitchFamily="34" charset="-122"/>
                          <a:cs typeface="Segoe UI" pitchFamily="34" charset="-120"/>
                        </a:rPr>
                        <a:t>Visual interfaces, multi-language SDKs, automation tools</a:t>
                      </a:r>
                      <a:endParaRPr lang="en-US" sz="120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91540">
                <a:tc>
                  <a:txBody>
                    <a:bodyPr/>
                    <a:lstStyle/>
                    <a:p>
                      <a:pPr marL="0" indent="0">
                        <a:buNone/>
                      </a:pPr>
                      <a:r>
                        <a:rPr lang="en-US" sz="1200" dirty="0">
                          <a:solidFill>
                            <a:srgbClr val="000000"/>
                          </a:solidFill>
                          <a:latin typeface="Segoe UI" pitchFamily="34" charset="0"/>
                          <a:ea typeface="Segoe UI" pitchFamily="34" charset="-122"/>
                          <a:cs typeface="Segoe UI" pitchFamily="34" charset="-120"/>
                        </a:rPr>
                        <a:t>Copilot Solutions</a:t>
                      </a:r>
                      <a:endParaRPr lang="en-US" sz="120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dirty="0">
                          <a:solidFill>
                            <a:srgbClr val="000000"/>
                          </a:solidFill>
                          <a:latin typeface="Segoe UI" pitchFamily="34" charset="0"/>
                          <a:ea typeface="Segoe UI" pitchFamily="34" charset="-122"/>
                          <a:cs typeface="Segoe UI" pitchFamily="34" charset="-120"/>
                        </a:rPr>
                        <a:t>Embed AI to enhance productivity</a:t>
                      </a:r>
                      <a:endParaRPr lang="en-US" sz="120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dirty="0">
                          <a:solidFill>
                            <a:srgbClr val="000000"/>
                          </a:solidFill>
                          <a:latin typeface="Segoe UI" pitchFamily="34" charset="0"/>
                          <a:ea typeface="Segoe UI" pitchFamily="34" charset="-122"/>
                          <a:cs typeface="Segoe UI" pitchFamily="34" charset="-120"/>
                        </a:rPr>
                        <a:t>Automate tasks, generate content, provide insights</a:t>
                      </a:r>
                      <a:endParaRPr lang="en-US" sz="120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00" dirty="0">
                          <a:solidFill>
                            <a:srgbClr val="000000"/>
                          </a:solidFill>
                          <a:latin typeface="Segoe UI" pitchFamily="34" charset="0"/>
                          <a:ea typeface="Segoe UI" pitchFamily="34" charset="-122"/>
                          <a:cs typeface="Segoe UI" pitchFamily="34" charset="-120"/>
                        </a:rPr>
                        <a:t>Improved business process efficiency and insights</a:t>
                      </a:r>
                      <a:endParaRPr lang="en-US" sz="1200" dirty="0">
                        <a:latin typeface="Segoe UI" charset="0"/>
                        <a:ea typeface="Segoe UI" charset="0"/>
                        <a:cs typeface="Segoe U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Microsoft AI Ecosystem</a:t>
            </a:r>
            <a:endParaRPr lang="en-US" sz="3250" dirty="0"/>
          </a:p>
        </p:txBody>
      </p:sp>
      <p:pic>
        <p:nvPicPr>
          <p:cNvPr id="3" name="Image 0" descr="preencoded.png"/>
          <p:cNvPicPr>
            <a:picLocks noChangeAspect="1"/>
          </p:cNvPicPr>
          <p:nvPr/>
        </p:nvPicPr>
        <p:blipFill>
          <a:blip r:embed="rId3"/>
          <a:stretch>
            <a:fillRect/>
          </a:stretch>
        </p:blipFill>
        <p:spPr>
          <a:xfrm>
            <a:off x="2008116" y="1325880"/>
            <a:ext cx="7884822" cy="4400831"/>
          </a:xfrm>
          <a:prstGeom prst="rect">
            <a:avLst/>
          </a:prstGeom>
          <a:ln>
            <a:solidFill>
              <a:schemeClr val="tx1"/>
            </a:solidFill>
          </a:ln>
        </p:spPr>
      </p:pic>
      <p:sp>
        <p:nvSpPr>
          <p:cNvPr id="5" name="Text 2"/>
          <p:cNvSpPr/>
          <p:nvPr/>
        </p:nvSpPr>
        <p:spPr>
          <a:xfrm>
            <a:off x="685800" y="6565392"/>
            <a:ext cx="10817352" cy="210312"/>
          </a:xfrm>
          <a:prstGeom prst="rect">
            <a:avLst/>
          </a:prstGeom>
          <a:noFill/>
          <a:ln/>
        </p:spPr>
        <p:txBody>
          <a:bodyPr wrap="square" rtlCol="0" anchor="ctr"/>
          <a:lstStyle/>
          <a:p>
            <a:pPr marL="0" indent="0">
              <a:buNone/>
            </a:pP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Best Practices for Business Value</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Start with measurable business outcomes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Implement AI responsibly: fairness, reliability, safety, privacy, security, inclusiveness, transparency, accountability</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Leverage cloud scalability for enterprise-wide adoption</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References</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https://learn.microsoft.com/en-us/training/modules/prepare-azure-ai-development/3-azure-ai-services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https://learn.microsoft.com/en-us/training/modules/prepare-azure-ai-development/5-tools-and-sdks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https://learn.microsoft.com/en-us/training/modules/business-value-microsoft-copilot-solutions/2-explore-copilot-solutions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https://www.microsoft.com/en-us/ai?msockid=1e655f68c35d65753a8c49b1c22864c2</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https://learn.microsoft.com/en-us/training/modules/generative-ai-productivity/</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https://learn.microsoft.com/en-us/training/modules/create-business-value/</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31520" y="594360"/>
            <a:ext cx="7315200" cy="457200"/>
          </a:xfrm>
          <a:prstGeom prst="rect">
            <a:avLst/>
          </a:prstGeom>
          <a:noFill/>
          <a:ln/>
        </p:spPr>
        <p:txBody>
          <a:bodyPr wrap="square" rtlCol="0" anchor="ctr"/>
          <a:lstStyle/>
          <a:p>
            <a:pPr marL="0" indent="0">
              <a:buNone/>
            </a:pPr>
            <a:r>
              <a:rPr lang="en-US" sz="2000" dirty="0">
                <a:solidFill>
                  <a:srgbClr val="000000"/>
                </a:solidFill>
                <a:latin typeface="Segoe UI" pitchFamily="34" charset="0"/>
                <a:ea typeface="Segoe UI" pitchFamily="34" charset="-122"/>
                <a:cs typeface="Segoe UI" pitchFamily="34" charset="-120"/>
              </a:rPr>
              <a:t>Knowledge check</a:t>
            </a:r>
            <a:endParaRPr lang="en-US" sz="2000" dirty="0"/>
          </a:p>
        </p:txBody>
      </p:sp>
      <p:sp>
        <p:nvSpPr>
          <p:cNvPr id="3" name="Text 1"/>
          <p:cNvSpPr/>
          <p:nvPr/>
        </p:nvSpPr>
        <p:spPr>
          <a:xfrm>
            <a:off x="4023360" y="2331720"/>
            <a:ext cx="5486400" cy="365760"/>
          </a:xfrm>
          <a:prstGeom prst="rect">
            <a:avLst/>
          </a:prstGeom>
          <a:noFill/>
          <a:ln/>
        </p:spPr>
        <p:txBody>
          <a:bodyPr wrap="square" rtlCol="0" anchor="ctr"/>
          <a:lstStyle/>
          <a:p>
            <a:pPr marL="0" indent="0">
              <a:buNone/>
            </a:pPr>
            <a:r>
              <a:rPr lang="en-US" sz="1800" b="1" dirty="0">
                <a:solidFill>
                  <a:srgbClr val="000000"/>
                </a:solidFill>
                <a:latin typeface="Segoe UI" pitchFamily="34" charset="0"/>
                <a:ea typeface="Segoe UI" pitchFamily="34" charset="-122"/>
                <a:cs typeface="Segoe UI" pitchFamily="34" charset="-120"/>
              </a:rPr>
              <a:t>Question 1</a:t>
            </a:r>
            <a:endParaRPr lang="en-US" sz="1800" dirty="0"/>
          </a:p>
        </p:txBody>
      </p:sp>
      <p:sp>
        <p:nvSpPr>
          <p:cNvPr id="4" name="Text 2"/>
          <p:cNvSpPr/>
          <p:nvPr/>
        </p:nvSpPr>
        <p:spPr>
          <a:xfrm>
            <a:off x="4023360" y="2788920"/>
            <a:ext cx="7589520" cy="1463040"/>
          </a:xfrm>
          <a:prstGeom prst="rect">
            <a:avLst/>
          </a:prstGeom>
          <a:noFill/>
          <a:ln/>
        </p:spPr>
        <p:txBody>
          <a:bodyPr wrap="square" rtlCol="0" anchor="t"/>
          <a:lstStyle/>
          <a:p>
            <a:pPr marL="0" indent="0">
              <a:buNone/>
            </a:pPr>
            <a:r>
              <a:rPr lang="en-US" sz="2600" dirty="0">
                <a:solidFill>
                  <a:srgbClr val="000000"/>
                </a:solidFill>
                <a:latin typeface="Segoe UI" pitchFamily="34" charset="0"/>
                <a:ea typeface="Segoe UI" pitchFamily="34" charset="-122"/>
                <a:cs typeface="Segoe UI" pitchFamily="34" charset="-120"/>
              </a:rPr>
              <a:t>Which service provides prebuilt APIs for vision and speech?</a:t>
            </a:r>
            <a:endParaRPr lang="en-US" sz="2600" dirty="0"/>
          </a:p>
        </p:txBody>
      </p:sp>
      <p:sp>
        <p:nvSpPr>
          <p:cNvPr id="5" name="Text 3"/>
          <p:cNvSpPr/>
          <p:nvPr/>
        </p:nvSpPr>
        <p:spPr>
          <a:xfrm>
            <a:off x="4160520" y="4343400"/>
            <a:ext cx="7498080" cy="128016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a) Azure Machine Learning</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b) Cognitive Services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c) Microsoft Copilot</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d) Power BI</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31520" y="594360"/>
            <a:ext cx="7315200" cy="457200"/>
          </a:xfrm>
          <a:prstGeom prst="rect">
            <a:avLst/>
          </a:prstGeom>
          <a:noFill/>
          <a:ln/>
        </p:spPr>
        <p:txBody>
          <a:bodyPr wrap="square" rtlCol="0" anchor="ctr"/>
          <a:lstStyle/>
          <a:p>
            <a:pPr marL="0" indent="0">
              <a:buNone/>
            </a:pPr>
            <a:r>
              <a:rPr lang="en-US" sz="2000" dirty="0">
                <a:solidFill>
                  <a:srgbClr val="000000"/>
                </a:solidFill>
                <a:latin typeface="Segoe UI" pitchFamily="34" charset="0"/>
                <a:ea typeface="Segoe UI" pitchFamily="34" charset="-122"/>
                <a:cs typeface="Segoe UI" pitchFamily="34" charset="-120"/>
              </a:rPr>
              <a:t>Knowledge check</a:t>
            </a:r>
            <a:endParaRPr lang="en-US" sz="2000" dirty="0"/>
          </a:p>
        </p:txBody>
      </p:sp>
      <p:sp>
        <p:nvSpPr>
          <p:cNvPr id="3" name="Text 1"/>
          <p:cNvSpPr/>
          <p:nvPr/>
        </p:nvSpPr>
        <p:spPr>
          <a:xfrm>
            <a:off x="4023360" y="2331720"/>
            <a:ext cx="5486400" cy="365760"/>
          </a:xfrm>
          <a:prstGeom prst="rect">
            <a:avLst/>
          </a:prstGeom>
          <a:noFill/>
          <a:ln/>
        </p:spPr>
        <p:txBody>
          <a:bodyPr wrap="square" rtlCol="0" anchor="ctr"/>
          <a:lstStyle/>
          <a:p>
            <a:pPr marL="0" indent="0">
              <a:buNone/>
            </a:pPr>
            <a:r>
              <a:rPr lang="en-US" sz="1800" b="1" dirty="0">
                <a:solidFill>
                  <a:srgbClr val="000000"/>
                </a:solidFill>
                <a:latin typeface="Segoe UI" pitchFamily="34" charset="0"/>
                <a:ea typeface="Segoe UI" pitchFamily="34" charset="-122"/>
                <a:cs typeface="Segoe UI" pitchFamily="34" charset="-120"/>
              </a:rPr>
              <a:t>Discussion</a:t>
            </a:r>
            <a:endParaRPr lang="en-US" sz="1800" dirty="0"/>
          </a:p>
        </p:txBody>
      </p:sp>
      <p:sp>
        <p:nvSpPr>
          <p:cNvPr id="4" name="Text 2"/>
          <p:cNvSpPr/>
          <p:nvPr/>
        </p:nvSpPr>
        <p:spPr>
          <a:xfrm>
            <a:off x="4023360" y="2788920"/>
            <a:ext cx="7589520" cy="1463040"/>
          </a:xfrm>
          <a:prstGeom prst="rect">
            <a:avLst/>
          </a:prstGeom>
          <a:noFill/>
          <a:ln/>
        </p:spPr>
        <p:txBody>
          <a:bodyPr wrap="square" rtlCol="0" anchor="t"/>
          <a:lstStyle/>
          <a:p>
            <a:pPr marL="0" indent="0">
              <a:buNone/>
            </a:pPr>
            <a:r>
              <a:rPr lang="en-US" sz="2600" dirty="0">
                <a:solidFill>
                  <a:srgbClr val="000000"/>
                </a:solidFill>
                <a:latin typeface="Segoe UI" pitchFamily="34" charset="0"/>
                <a:ea typeface="Segoe UI" pitchFamily="34" charset="-122"/>
                <a:cs typeface="Segoe UI" pitchFamily="34" charset="-120"/>
              </a:rPr>
              <a:t>How can Copilot solutions improve productivity in business processes? Provide two examples.</a:t>
            </a:r>
            <a:endParaRPr lang="en-US" sz="2600" dirty="0"/>
          </a:p>
        </p:txBody>
      </p:sp>
      <p:sp>
        <p:nvSpPr>
          <p:cNvPr id="5" name="Text 3"/>
          <p:cNvSpPr/>
          <p:nvPr/>
        </p:nvSpPr>
        <p:spPr>
          <a:xfrm>
            <a:off x="4160520" y="4343400"/>
            <a:ext cx="7498080" cy="1280160"/>
          </a:xfrm>
          <a:prstGeom prst="rect">
            <a:avLst/>
          </a:prstGeom>
          <a:noFill/>
          <a:ln/>
        </p:spPr>
        <p:txBody>
          <a:bodyPr wrap="square" rtlCol="0" anchor="t"/>
          <a:lstStyle/>
          <a:p>
            <a:pPr marL="0" indent="0">
              <a:buNone/>
            </a:pP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822960" y="1965960"/>
            <a:ext cx="10789920" cy="914400"/>
          </a:xfrm>
          <a:prstGeom prst="rect">
            <a:avLst/>
          </a:prstGeom>
          <a:noFill/>
          <a:ln/>
        </p:spPr>
        <p:txBody>
          <a:bodyPr wrap="square" rtlCol="0" anchor="ctr"/>
          <a:lstStyle/>
          <a:p>
            <a:pPr marL="0" indent="0">
              <a:buNone/>
            </a:pPr>
            <a:r>
              <a:rPr lang="en-US" sz="4050" b="1" dirty="0">
                <a:solidFill>
                  <a:srgbClr val="000000"/>
                </a:solidFill>
                <a:latin typeface="Segoe UI" pitchFamily="34" charset="0"/>
                <a:ea typeface="Segoe UI" pitchFamily="34" charset="-122"/>
                <a:cs typeface="Segoe UI" pitchFamily="34" charset="-120"/>
              </a:rPr>
              <a:t>Unit: Identify Out-of-the-Box (OOB) Microsoft AI Agent Resources</a:t>
            </a:r>
            <a:endParaRPr lang="en-US" sz="4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Learning objectives</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Identify OOB Microsoft AI agent resources available for business solutions.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Understand how these resources accelerate AI adoption and integration.</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Explore tools and practices for leveraging AI agents effectively.</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Overview</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Microsoft offers out-of-the-box AI agent resources to accelerate AI implementation.</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Resources include prebuilt agents, templates, and tools integrated with Azure AI and Copilot Studio.</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These agents reduce development time, ensure compliance, and enable enterprise scalability.</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Key Components of OOB AI Agent Resources</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Prebuilt AI Agents available via Copilot Studio, Dynamics 365, and Microsoft 365.</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AI Tools and Practices including Azure AI Services, Azure Machine Learning, and OpenAI Service.</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Templates and Scenario Libraries for custom agents and business process automation.</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Microsoft AI Agent Ecosystem</a:t>
            </a:r>
            <a:endParaRPr lang="en-US" sz="3250" dirty="0"/>
          </a:p>
        </p:txBody>
      </p:sp>
      <p:pic>
        <p:nvPicPr>
          <p:cNvPr id="3" name="Image 0" descr="preencoded.png"/>
          <p:cNvPicPr>
            <a:picLocks noChangeAspect="1"/>
          </p:cNvPicPr>
          <p:nvPr/>
        </p:nvPicPr>
        <p:blipFill>
          <a:blip r:embed="rId3"/>
          <a:stretch>
            <a:fillRect/>
          </a:stretch>
        </p:blipFill>
        <p:spPr>
          <a:xfrm>
            <a:off x="2238102" y="1504406"/>
            <a:ext cx="7570851" cy="4326201"/>
          </a:xfrm>
          <a:prstGeom prst="rect">
            <a:avLst/>
          </a:prstGeom>
          <a:ln>
            <a:solidFill>
              <a:schemeClr val="tx1"/>
            </a:solidFill>
          </a:ln>
        </p:spPr>
      </p:pic>
      <p:sp>
        <p:nvSpPr>
          <p:cNvPr id="5" name="Text 2"/>
          <p:cNvSpPr/>
          <p:nvPr/>
        </p:nvSpPr>
        <p:spPr>
          <a:xfrm>
            <a:off x="685800" y="6565392"/>
            <a:ext cx="10817352" cy="210312"/>
          </a:xfrm>
          <a:prstGeom prst="rect">
            <a:avLst/>
          </a:prstGeom>
          <a:noFill/>
          <a:ln/>
        </p:spPr>
        <p:txBody>
          <a:bodyPr wrap="square" rtlCol="0" anchor="ctr"/>
          <a:lstStyle/>
          <a:p>
            <a:pPr marL="0" indent="0">
              <a:buNone/>
            </a:pP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Best Practices</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Start with business outcomes before selecting tools.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Use prebuilt agents for quick deployment.</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Ensure responsible AI principles: Fairness, Reliability and Safety, Privacy and Security, Inclusiveness, Transparency, Accountability.</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Leverage Azure AI for scalability and compliance.</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731520" y="594360"/>
            <a:ext cx="7315200" cy="457200"/>
          </a:xfrm>
          <a:prstGeom prst="rect">
            <a:avLst/>
          </a:prstGeom>
          <a:noFill/>
          <a:ln/>
        </p:spPr>
        <p:txBody>
          <a:bodyPr wrap="square" rtlCol="0" anchor="ctr"/>
          <a:lstStyle/>
          <a:p>
            <a:pPr marL="0" indent="0">
              <a:buNone/>
            </a:pPr>
            <a:r>
              <a:rPr lang="en-US" sz="2000" dirty="0">
                <a:solidFill>
                  <a:srgbClr val="000000"/>
                </a:solidFill>
                <a:latin typeface="Segoe UI" pitchFamily="34" charset="0"/>
                <a:ea typeface="Segoe UI" pitchFamily="34" charset="-122"/>
                <a:cs typeface="Segoe UI" pitchFamily="34" charset="-120"/>
              </a:rPr>
              <a:t>Knowledge check</a:t>
            </a:r>
            <a:endParaRPr lang="en-US" sz="2000" dirty="0"/>
          </a:p>
        </p:txBody>
      </p:sp>
      <p:sp>
        <p:nvSpPr>
          <p:cNvPr id="3" name="Text 1"/>
          <p:cNvSpPr/>
          <p:nvPr/>
        </p:nvSpPr>
        <p:spPr>
          <a:xfrm>
            <a:off x="4023360" y="2331720"/>
            <a:ext cx="5486400" cy="365760"/>
          </a:xfrm>
          <a:prstGeom prst="rect">
            <a:avLst/>
          </a:prstGeom>
          <a:noFill/>
          <a:ln/>
        </p:spPr>
        <p:txBody>
          <a:bodyPr wrap="square" rtlCol="0" anchor="ctr"/>
          <a:lstStyle/>
          <a:p>
            <a:pPr marL="0" indent="0">
              <a:buNone/>
            </a:pPr>
            <a:r>
              <a:rPr lang="en-US" sz="1800" b="1" dirty="0">
                <a:solidFill>
                  <a:srgbClr val="000000"/>
                </a:solidFill>
                <a:latin typeface="Segoe UI" pitchFamily="34" charset="0"/>
                <a:ea typeface="Segoe UI" pitchFamily="34" charset="-122"/>
                <a:cs typeface="Segoe UI" pitchFamily="34" charset="-120"/>
              </a:rPr>
              <a:t>Question 1</a:t>
            </a:r>
            <a:endParaRPr lang="en-US" sz="1800" dirty="0"/>
          </a:p>
        </p:txBody>
      </p:sp>
      <p:sp>
        <p:nvSpPr>
          <p:cNvPr id="4" name="Text 2"/>
          <p:cNvSpPr/>
          <p:nvPr/>
        </p:nvSpPr>
        <p:spPr>
          <a:xfrm>
            <a:off x="4023360" y="2788920"/>
            <a:ext cx="7589520" cy="1463040"/>
          </a:xfrm>
          <a:prstGeom prst="rect">
            <a:avLst/>
          </a:prstGeom>
          <a:noFill/>
          <a:ln/>
        </p:spPr>
        <p:txBody>
          <a:bodyPr wrap="square" rtlCol="0" anchor="t"/>
          <a:lstStyle/>
          <a:p>
            <a:pPr marL="0" indent="0">
              <a:buNone/>
            </a:pPr>
            <a:r>
              <a:rPr lang="en-US" sz="2600" dirty="0">
                <a:solidFill>
                  <a:srgbClr val="000000"/>
                </a:solidFill>
                <a:latin typeface="Segoe UI" pitchFamily="34" charset="0"/>
                <a:ea typeface="Segoe UI" pitchFamily="34" charset="-122"/>
                <a:cs typeface="Segoe UI" pitchFamily="34" charset="-120"/>
              </a:rPr>
              <a:t>Which Microsoft resource provides prebuilt AI agents for business workflows?</a:t>
            </a:r>
            <a:endParaRPr lang="en-US" sz="2600" dirty="0"/>
          </a:p>
        </p:txBody>
      </p:sp>
      <p:sp>
        <p:nvSpPr>
          <p:cNvPr id="5" name="Text 3"/>
          <p:cNvSpPr/>
          <p:nvPr/>
        </p:nvSpPr>
        <p:spPr>
          <a:xfrm>
            <a:off x="4160520" y="4343400"/>
            <a:ext cx="7498080" cy="128016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A) Azure Machine Learning</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B) Copilot Studio</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C) Power BI</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D) GitHub Copilot</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731520" y="594360"/>
            <a:ext cx="7315200" cy="457200"/>
          </a:xfrm>
          <a:prstGeom prst="rect">
            <a:avLst/>
          </a:prstGeom>
          <a:noFill/>
          <a:ln/>
        </p:spPr>
        <p:txBody>
          <a:bodyPr wrap="square" rtlCol="0" anchor="ctr"/>
          <a:lstStyle/>
          <a:p>
            <a:pPr marL="0" indent="0">
              <a:buNone/>
            </a:pPr>
            <a:r>
              <a:rPr lang="en-US" sz="2000" dirty="0">
                <a:solidFill>
                  <a:srgbClr val="000000"/>
                </a:solidFill>
                <a:latin typeface="Segoe UI" pitchFamily="34" charset="0"/>
                <a:ea typeface="Segoe UI" pitchFamily="34" charset="-122"/>
                <a:cs typeface="Segoe UI" pitchFamily="34" charset="-120"/>
              </a:rPr>
              <a:t>Knowledge check</a:t>
            </a:r>
            <a:endParaRPr lang="en-US" sz="2000" dirty="0"/>
          </a:p>
        </p:txBody>
      </p:sp>
      <p:sp>
        <p:nvSpPr>
          <p:cNvPr id="3" name="Text 1"/>
          <p:cNvSpPr/>
          <p:nvPr/>
        </p:nvSpPr>
        <p:spPr>
          <a:xfrm>
            <a:off x="4023360" y="2331720"/>
            <a:ext cx="5486400" cy="365760"/>
          </a:xfrm>
          <a:prstGeom prst="rect">
            <a:avLst/>
          </a:prstGeom>
          <a:noFill/>
          <a:ln/>
        </p:spPr>
        <p:txBody>
          <a:bodyPr wrap="square" rtlCol="0" anchor="ctr"/>
          <a:lstStyle/>
          <a:p>
            <a:pPr marL="0" indent="0">
              <a:buNone/>
            </a:pPr>
            <a:r>
              <a:rPr lang="en-US" sz="1800" b="1" dirty="0">
                <a:solidFill>
                  <a:srgbClr val="000000"/>
                </a:solidFill>
                <a:latin typeface="Segoe UI" pitchFamily="34" charset="0"/>
                <a:ea typeface="Segoe UI" pitchFamily="34" charset="-122"/>
                <a:cs typeface="Segoe UI" pitchFamily="34" charset="-120"/>
              </a:rPr>
              <a:t>Discussion</a:t>
            </a:r>
            <a:endParaRPr lang="en-US" sz="1800" dirty="0"/>
          </a:p>
        </p:txBody>
      </p:sp>
      <p:sp>
        <p:nvSpPr>
          <p:cNvPr id="4" name="Text 2"/>
          <p:cNvSpPr/>
          <p:nvPr/>
        </p:nvSpPr>
        <p:spPr>
          <a:xfrm>
            <a:off x="4023360" y="2788920"/>
            <a:ext cx="7589520" cy="1463040"/>
          </a:xfrm>
          <a:prstGeom prst="rect">
            <a:avLst/>
          </a:prstGeom>
          <a:noFill/>
          <a:ln/>
        </p:spPr>
        <p:txBody>
          <a:bodyPr wrap="square" rtlCol="0" anchor="t"/>
          <a:lstStyle/>
          <a:p>
            <a:pPr marL="0" indent="0">
              <a:buNone/>
            </a:pPr>
            <a:r>
              <a:rPr lang="en-US" sz="2600" dirty="0">
                <a:solidFill>
                  <a:srgbClr val="000000"/>
                </a:solidFill>
                <a:latin typeface="Segoe UI" pitchFamily="34" charset="0"/>
                <a:ea typeface="Segoe UI" pitchFamily="34" charset="-122"/>
                <a:cs typeface="Segoe UI" pitchFamily="34" charset="-120"/>
              </a:rPr>
              <a:t>How can prebuilt AI agents accelerate AI adoption in your organization? Provide two examples.</a:t>
            </a:r>
            <a:endParaRPr lang="en-US" sz="2600" dirty="0"/>
          </a:p>
        </p:txBody>
      </p:sp>
      <p:sp>
        <p:nvSpPr>
          <p:cNvPr id="5" name="Text 3"/>
          <p:cNvSpPr/>
          <p:nvPr/>
        </p:nvSpPr>
        <p:spPr>
          <a:xfrm>
            <a:off x="4160520" y="4343400"/>
            <a:ext cx="7498080" cy="1280160"/>
          </a:xfrm>
          <a:prstGeom prst="rect">
            <a:avLst/>
          </a:prstGeom>
          <a:noFill/>
          <a:ln/>
        </p:spPr>
        <p:txBody>
          <a:bodyPr wrap="square" rtlCol="0" anchor="t"/>
          <a:lstStyle/>
          <a:p>
            <a:pPr marL="0" indent="0">
              <a:buNone/>
            </a:pP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References</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https://www.microsoft.com/en-us/ai/tools-practices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https://learn.microsoft.com/en-us/training/azure-ai</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822960" y="1965960"/>
            <a:ext cx="10789920" cy="914400"/>
          </a:xfrm>
          <a:prstGeom prst="rect">
            <a:avLst/>
          </a:prstGeom>
          <a:noFill/>
          <a:ln/>
        </p:spPr>
        <p:txBody>
          <a:bodyPr wrap="square" rtlCol="0" anchor="ctr"/>
          <a:lstStyle/>
          <a:p>
            <a:pPr marL="0" indent="0">
              <a:buNone/>
            </a:pPr>
            <a:r>
              <a:rPr lang="en-US" sz="4050" b="1" dirty="0">
                <a:solidFill>
                  <a:srgbClr val="000000"/>
                </a:solidFill>
                <a:latin typeface="Segoe UI" pitchFamily="34" charset="0"/>
                <a:ea typeface="Segoe UI" pitchFamily="34" charset="-122"/>
                <a:cs typeface="Segoe UI" pitchFamily="34" charset="-120"/>
              </a:rPr>
              <a:t>Unit: Identify Out-of-the-Box (OOB) Microsoft AI Agents</a:t>
            </a:r>
            <a:endParaRPr lang="en-US" sz="4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Learning objectives</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Explain what OOB Microsoft AI Agents are and their role in business process automation</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Identify pre-built AI agents available in Microsoft Copilot Studio</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Understand how templates and scenario libraries accelerate AI adoption</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Explore best practices for leveraging AI agents responsibly and effectively</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Overview</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Microsoft provides Out-of-the-Box (OOB) AI Agents to integrate AI quickly into workflows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Agents automate common business processes, improve efficiency, and ensure compliance</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Designed to help organizations avoid starting AI projects from scratch</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Core Concepts</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OOB AI Agents are pre-built agents and templates in Microsoft Copilot Studio and Microsoft 365</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Designed for scenarios like customer service automation, workflow optimization, and data-driven decision-making</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Benefits include faster deployment, scalability with Microsoft 365 and Dynamics 365, and compliance with Responsible AI standards</a:t>
            </a: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Key Resources</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Copilot Studio: Explore and customize pre-built AI agents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Templates: Use fundamentals to create tailored AI solutions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Scenario Library: Access adoption guides and best practices for enterprise AI</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Microsoft AI Agent Ecosystem</a:t>
            </a:r>
            <a:endParaRPr lang="en-US" sz="3250" dirty="0"/>
          </a:p>
        </p:txBody>
      </p:sp>
      <p:pic>
        <p:nvPicPr>
          <p:cNvPr id="3" name="Image 0" descr="preencoded.png"/>
          <p:cNvPicPr>
            <a:picLocks noChangeAspect="1"/>
          </p:cNvPicPr>
          <p:nvPr/>
        </p:nvPicPr>
        <p:blipFill>
          <a:blip r:embed="rId3"/>
          <a:stretch>
            <a:fillRect/>
          </a:stretch>
        </p:blipFill>
        <p:spPr>
          <a:xfrm>
            <a:off x="2220685" y="1417320"/>
            <a:ext cx="7553434" cy="4316248"/>
          </a:xfrm>
          <a:prstGeom prst="rect">
            <a:avLst/>
          </a:prstGeom>
          <a:solidFill>
            <a:schemeClr val="tx1"/>
          </a:solidFill>
          <a:ln>
            <a:solidFill>
              <a:schemeClr val="tx1"/>
            </a:solidFill>
          </a:ln>
        </p:spPr>
      </p:pic>
      <p:sp>
        <p:nvSpPr>
          <p:cNvPr id="5" name="Text 2"/>
          <p:cNvSpPr/>
          <p:nvPr/>
        </p:nvSpPr>
        <p:spPr>
          <a:xfrm>
            <a:off x="685800" y="6565392"/>
            <a:ext cx="10817352" cy="210312"/>
          </a:xfrm>
          <a:prstGeom prst="rect">
            <a:avLst/>
          </a:prstGeom>
          <a:noFill/>
          <a:ln/>
        </p:spPr>
        <p:txBody>
          <a:bodyPr wrap="square" rtlCol="0" anchor="ctr"/>
          <a:lstStyle/>
          <a:p>
            <a:pPr marL="0" indent="0">
              <a:buNone/>
            </a:pP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Microsoft AI Agent Ecosystem (Mermaid)</a:t>
            </a:r>
            <a:endParaRPr lang="en-US" sz="3250" dirty="0"/>
          </a:p>
        </p:txBody>
      </p:sp>
      <p:pic>
        <p:nvPicPr>
          <p:cNvPr id="3" name="Image 0" descr="preencoded.png"/>
          <p:cNvPicPr>
            <a:picLocks noChangeAspect="1"/>
          </p:cNvPicPr>
          <p:nvPr/>
        </p:nvPicPr>
        <p:blipFill>
          <a:blip r:embed="rId3"/>
          <a:stretch>
            <a:fillRect/>
          </a:stretch>
        </p:blipFill>
        <p:spPr>
          <a:xfrm>
            <a:off x="949235" y="1386840"/>
            <a:ext cx="9887298" cy="4593099"/>
          </a:xfrm>
          <a:prstGeom prst="rect">
            <a:avLst/>
          </a:prstGeom>
          <a:ln>
            <a:solidFill>
              <a:schemeClr val="tx1"/>
            </a:solidFill>
          </a:ln>
        </p:spPr>
      </p:pic>
      <p:sp>
        <p:nvSpPr>
          <p:cNvPr id="5" name="Text 2"/>
          <p:cNvSpPr/>
          <p:nvPr/>
        </p:nvSpPr>
        <p:spPr>
          <a:xfrm>
            <a:off x="685800" y="6565392"/>
            <a:ext cx="10817352" cy="210312"/>
          </a:xfrm>
          <a:prstGeom prst="rect">
            <a:avLst/>
          </a:prstGeom>
          <a:noFill/>
          <a:ln/>
        </p:spPr>
        <p:txBody>
          <a:bodyPr wrap="square" rtlCol="0" anchor="ctr"/>
          <a:lstStyle/>
          <a:p>
            <a:pPr marL="0" indent="0">
              <a:buNone/>
            </a:pP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OOB AI Agent Resources</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Prebuilt Agents: Automate common business workflows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Copilot Studio: Customize and deploy AI agents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Azure AI Services: Vision, Speech, Language, Decision-making capabilities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Scenario Library: Best practices and adoption guides</a:t>
            </a:r>
            <a:endParaRPr 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Best Practices</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Start with business outcomes before selecting tools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Use prebuilt agents for quick deployment</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Ensure Responsible AI principles: Fairness, Reliability and Safety, Privacy and Security, Inclusiveness, Transparency, Accountability</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Leverage Azure AI for scalability and compliance</a:t>
            </a:r>
            <a:endParaRPr lang="en-US"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822960" y="594360"/>
            <a:ext cx="10789920" cy="731520"/>
          </a:xfrm>
          <a:prstGeom prst="rect">
            <a:avLst/>
          </a:prstGeom>
          <a:noFill/>
          <a:ln/>
        </p:spPr>
        <p:txBody>
          <a:bodyPr wrap="square" rtlCol="0" anchor="ctr"/>
          <a:lstStyle/>
          <a:p>
            <a:pPr marL="0" indent="0">
              <a:buNone/>
            </a:pPr>
            <a:r>
              <a:rPr lang="en-US" sz="3250" b="1" dirty="0">
                <a:solidFill>
                  <a:srgbClr val="000000"/>
                </a:solidFill>
                <a:latin typeface="Segoe UI" pitchFamily="34" charset="0"/>
                <a:ea typeface="Segoe UI" pitchFamily="34" charset="-122"/>
                <a:cs typeface="Segoe UI" pitchFamily="34" charset="-120"/>
              </a:rPr>
              <a:t>References</a:t>
            </a:r>
            <a:endParaRPr lang="en-US" sz="3250" dirty="0"/>
          </a:p>
        </p:txBody>
      </p:sp>
      <p:sp>
        <p:nvSpPr>
          <p:cNvPr id="3" name="Text 1"/>
          <p:cNvSpPr/>
          <p:nvPr/>
        </p:nvSpPr>
        <p:spPr>
          <a:xfrm>
            <a:off x="914400" y="1417320"/>
            <a:ext cx="10607040" cy="123444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 https://www.microsoft.com/en-us/microsoft-copilot/blog/copilot-studio/explore-agents-pre-built-for-you-in-microsoft-copilot-studio/?msockid=1e655f68c35d65753a8c49b1c22864c2</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https://www.microsoft.com/en-us/dynamics-365/blog/business-leader/2024/10/21/transform-work-with-autonomous-agents-across-your-business-processes/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https://learn.microsoft.com/en-us/microsoft-copilot-studio/template-fundamentals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https://adoption.microsoft.com/en-us/scenario-library/</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https://adoption.microsoft.com/en-us/ai-agents/agents-in-microsoft-365/</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 https://learn.microsoft.com/en-us/power-apps/maker/canvas-apps/ai-overview</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731520" y="594360"/>
            <a:ext cx="7315200" cy="457200"/>
          </a:xfrm>
          <a:prstGeom prst="rect">
            <a:avLst/>
          </a:prstGeom>
          <a:noFill/>
          <a:ln/>
        </p:spPr>
        <p:txBody>
          <a:bodyPr wrap="square" rtlCol="0" anchor="ctr"/>
          <a:lstStyle/>
          <a:p>
            <a:pPr marL="0" indent="0">
              <a:buNone/>
            </a:pPr>
            <a:r>
              <a:rPr lang="en-US" sz="2000" dirty="0">
                <a:solidFill>
                  <a:srgbClr val="000000"/>
                </a:solidFill>
                <a:latin typeface="Segoe UI" pitchFamily="34" charset="0"/>
                <a:ea typeface="Segoe UI" pitchFamily="34" charset="-122"/>
                <a:cs typeface="Segoe UI" pitchFamily="34" charset="-120"/>
              </a:rPr>
              <a:t>Knowledge check</a:t>
            </a:r>
            <a:endParaRPr lang="en-US" sz="2000" dirty="0"/>
          </a:p>
        </p:txBody>
      </p:sp>
      <p:sp>
        <p:nvSpPr>
          <p:cNvPr id="3" name="Text 1"/>
          <p:cNvSpPr/>
          <p:nvPr/>
        </p:nvSpPr>
        <p:spPr>
          <a:xfrm>
            <a:off x="4023360" y="2331720"/>
            <a:ext cx="5486400" cy="365760"/>
          </a:xfrm>
          <a:prstGeom prst="rect">
            <a:avLst/>
          </a:prstGeom>
          <a:noFill/>
          <a:ln/>
        </p:spPr>
        <p:txBody>
          <a:bodyPr wrap="square" rtlCol="0" anchor="ctr"/>
          <a:lstStyle/>
          <a:p>
            <a:pPr marL="0" indent="0">
              <a:buNone/>
            </a:pPr>
            <a:r>
              <a:rPr lang="en-US" sz="1800" b="1" dirty="0">
                <a:solidFill>
                  <a:srgbClr val="000000"/>
                </a:solidFill>
                <a:latin typeface="Segoe UI" pitchFamily="34" charset="0"/>
                <a:ea typeface="Segoe UI" pitchFamily="34" charset="-122"/>
                <a:cs typeface="Segoe UI" pitchFamily="34" charset="-120"/>
              </a:rPr>
              <a:t>Question 1</a:t>
            </a:r>
            <a:endParaRPr lang="en-US" sz="1800" dirty="0"/>
          </a:p>
        </p:txBody>
      </p:sp>
      <p:sp>
        <p:nvSpPr>
          <p:cNvPr id="4" name="Text 2"/>
          <p:cNvSpPr/>
          <p:nvPr/>
        </p:nvSpPr>
        <p:spPr>
          <a:xfrm>
            <a:off x="4023360" y="2788920"/>
            <a:ext cx="7589520" cy="1463040"/>
          </a:xfrm>
          <a:prstGeom prst="rect">
            <a:avLst/>
          </a:prstGeom>
          <a:noFill/>
          <a:ln/>
        </p:spPr>
        <p:txBody>
          <a:bodyPr wrap="square" rtlCol="0" anchor="t"/>
          <a:lstStyle/>
          <a:p>
            <a:pPr marL="0" indent="0">
              <a:buNone/>
            </a:pPr>
            <a:r>
              <a:rPr lang="en-US" sz="2600" dirty="0">
                <a:solidFill>
                  <a:srgbClr val="000000"/>
                </a:solidFill>
                <a:latin typeface="Segoe UI" pitchFamily="34" charset="0"/>
                <a:ea typeface="Segoe UI" pitchFamily="34" charset="-122"/>
                <a:cs typeface="Segoe UI" pitchFamily="34" charset="-120"/>
              </a:rPr>
              <a:t>Which Microsoft resource provides prebuilt AI agents for business workflows?</a:t>
            </a:r>
            <a:endParaRPr lang="en-US" sz="2600" dirty="0"/>
          </a:p>
        </p:txBody>
      </p:sp>
      <p:sp>
        <p:nvSpPr>
          <p:cNvPr id="5" name="Text 3"/>
          <p:cNvSpPr/>
          <p:nvPr/>
        </p:nvSpPr>
        <p:spPr>
          <a:xfrm>
            <a:off x="4160520" y="4343400"/>
            <a:ext cx="7498080" cy="128016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a) Azure Machine Learning</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b) Copilot Studio</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c) Power BI</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d) GitHub Copilot</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822960" y="1965960"/>
            <a:ext cx="10789920" cy="914400"/>
          </a:xfrm>
          <a:prstGeom prst="rect">
            <a:avLst/>
          </a:prstGeom>
          <a:noFill/>
          <a:ln/>
        </p:spPr>
        <p:txBody>
          <a:bodyPr wrap="square" rtlCol="0" anchor="ctr"/>
          <a:lstStyle/>
          <a:p>
            <a:pPr marL="0" indent="0">
              <a:buNone/>
            </a:pPr>
            <a:r>
              <a:rPr lang="en-US" sz="4050" b="1" dirty="0">
                <a:solidFill>
                  <a:srgbClr val="000000"/>
                </a:solidFill>
                <a:latin typeface="Segoe UI" pitchFamily="34" charset="0"/>
                <a:ea typeface="Segoe UI" pitchFamily="34" charset="-122"/>
                <a:cs typeface="Segoe UI" pitchFamily="34" charset="-120"/>
              </a:rPr>
              <a:t>Unit: Knowledge Checks</a:t>
            </a:r>
            <a:endParaRPr lang="en-US" sz="4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731520" y="594360"/>
            <a:ext cx="7315200" cy="457200"/>
          </a:xfrm>
          <a:prstGeom prst="rect">
            <a:avLst/>
          </a:prstGeom>
          <a:noFill/>
          <a:ln/>
        </p:spPr>
        <p:txBody>
          <a:bodyPr wrap="square" rtlCol="0" anchor="ctr"/>
          <a:lstStyle/>
          <a:p>
            <a:pPr marL="0" indent="0">
              <a:buNone/>
            </a:pPr>
            <a:r>
              <a:rPr lang="en-US" sz="2000" dirty="0">
                <a:solidFill>
                  <a:srgbClr val="000000"/>
                </a:solidFill>
                <a:latin typeface="Segoe UI" pitchFamily="34" charset="0"/>
                <a:ea typeface="Segoe UI" pitchFamily="34" charset="-122"/>
                <a:cs typeface="Segoe UI" pitchFamily="34" charset="-120"/>
              </a:rPr>
              <a:t>Knowledge check</a:t>
            </a:r>
            <a:endParaRPr lang="en-US" sz="2000" dirty="0"/>
          </a:p>
        </p:txBody>
      </p:sp>
      <p:sp>
        <p:nvSpPr>
          <p:cNvPr id="3" name="Text 1"/>
          <p:cNvSpPr/>
          <p:nvPr/>
        </p:nvSpPr>
        <p:spPr>
          <a:xfrm>
            <a:off x="4023360" y="2331720"/>
            <a:ext cx="5486400" cy="365760"/>
          </a:xfrm>
          <a:prstGeom prst="rect">
            <a:avLst/>
          </a:prstGeom>
          <a:noFill/>
          <a:ln/>
        </p:spPr>
        <p:txBody>
          <a:bodyPr wrap="square" rtlCol="0" anchor="ctr"/>
          <a:lstStyle/>
          <a:p>
            <a:pPr marL="0" indent="0">
              <a:buNone/>
            </a:pPr>
            <a:r>
              <a:rPr lang="en-US" sz="1800" b="1" dirty="0">
                <a:solidFill>
                  <a:srgbClr val="000000"/>
                </a:solidFill>
                <a:latin typeface="Segoe UI" pitchFamily="34" charset="0"/>
                <a:ea typeface="Segoe UI" pitchFamily="34" charset="-122"/>
                <a:cs typeface="Segoe UI" pitchFamily="34" charset="-120"/>
              </a:rPr>
              <a:t>Question 1</a:t>
            </a:r>
            <a:endParaRPr lang="en-US" sz="1800" dirty="0"/>
          </a:p>
        </p:txBody>
      </p:sp>
      <p:sp>
        <p:nvSpPr>
          <p:cNvPr id="4" name="Text 2"/>
          <p:cNvSpPr/>
          <p:nvPr/>
        </p:nvSpPr>
        <p:spPr>
          <a:xfrm>
            <a:off x="4023360" y="2788920"/>
            <a:ext cx="7589520" cy="1463040"/>
          </a:xfrm>
          <a:prstGeom prst="rect">
            <a:avLst/>
          </a:prstGeom>
          <a:noFill/>
          <a:ln/>
        </p:spPr>
        <p:txBody>
          <a:bodyPr wrap="square" rtlCol="0" anchor="t"/>
          <a:lstStyle/>
          <a:p>
            <a:pPr marL="0" indent="0">
              <a:buNone/>
            </a:pPr>
            <a:r>
              <a:rPr lang="en-US" sz="2600" dirty="0">
                <a:solidFill>
                  <a:srgbClr val="000000"/>
                </a:solidFill>
                <a:latin typeface="Segoe UI" pitchFamily="34" charset="0"/>
                <a:ea typeface="Segoe UI" pitchFamily="34" charset="-122"/>
                <a:cs typeface="Segoe UI" pitchFamily="34" charset="-120"/>
              </a:rPr>
              <a:t>Which of the following best describes the primary role of an architect in AI transformation for businesses?</a:t>
            </a:r>
            <a:endParaRPr lang="en-US" sz="2600" dirty="0"/>
          </a:p>
        </p:txBody>
      </p:sp>
      <p:sp>
        <p:nvSpPr>
          <p:cNvPr id="5" name="Text 3"/>
          <p:cNvSpPr/>
          <p:nvPr/>
        </p:nvSpPr>
        <p:spPr>
          <a:xfrm>
            <a:off x="4160520" y="4343400"/>
            <a:ext cx="7498080" cy="128016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a) Developing machine learning models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b) Bridging business strategy and technical implementation</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c) Managing IT support tickets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d) Designing user interfaces</a:t>
            </a:r>
            <a:endParaRPr 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731520" y="594360"/>
            <a:ext cx="7315200" cy="457200"/>
          </a:xfrm>
          <a:prstGeom prst="rect">
            <a:avLst/>
          </a:prstGeom>
          <a:noFill/>
          <a:ln/>
        </p:spPr>
        <p:txBody>
          <a:bodyPr wrap="square" rtlCol="0" anchor="ctr"/>
          <a:lstStyle/>
          <a:p>
            <a:pPr marL="0" indent="0">
              <a:buNone/>
            </a:pPr>
            <a:r>
              <a:rPr lang="en-US" sz="2000" dirty="0">
                <a:solidFill>
                  <a:srgbClr val="000000"/>
                </a:solidFill>
                <a:latin typeface="Segoe UI" pitchFamily="34" charset="0"/>
                <a:ea typeface="Segoe UI" pitchFamily="34" charset="-122"/>
                <a:cs typeface="Segoe UI" pitchFamily="34" charset="-120"/>
              </a:rPr>
              <a:t>Knowledge check</a:t>
            </a:r>
            <a:endParaRPr lang="en-US" sz="2000" dirty="0"/>
          </a:p>
        </p:txBody>
      </p:sp>
      <p:sp>
        <p:nvSpPr>
          <p:cNvPr id="3" name="Text 1"/>
          <p:cNvSpPr/>
          <p:nvPr/>
        </p:nvSpPr>
        <p:spPr>
          <a:xfrm>
            <a:off x="4023360" y="2331720"/>
            <a:ext cx="5486400" cy="365760"/>
          </a:xfrm>
          <a:prstGeom prst="rect">
            <a:avLst/>
          </a:prstGeom>
          <a:noFill/>
          <a:ln/>
        </p:spPr>
        <p:txBody>
          <a:bodyPr wrap="square" rtlCol="0" anchor="ctr"/>
          <a:lstStyle/>
          <a:p>
            <a:pPr marL="0" indent="0">
              <a:buNone/>
            </a:pPr>
            <a:r>
              <a:rPr lang="en-US" sz="1800" b="1" dirty="0">
                <a:solidFill>
                  <a:srgbClr val="000000"/>
                </a:solidFill>
                <a:latin typeface="Segoe UI" pitchFamily="34" charset="0"/>
                <a:ea typeface="Segoe UI" pitchFamily="34" charset="-122"/>
                <a:cs typeface="Segoe UI" pitchFamily="34" charset="-120"/>
              </a:rPr>
              <a:t>Question 1</a:t>
            </a:r>
            <a:endParaRPr lang="en-US" sz="1800" dirty="0"/>
          </a:p>
        </p:txBody>
      </p:sp>
      <p:sp>
        <p:nvSpPr>
          <p:cNvPr id="4" name="Text 2"/>
          <p:cNvSpPr/>
          <p:nvPr/>
        </p:nvSpPr>
        <p:spPr>
          <a:xfrm>
            <a:off x="4023360" y="2788920"/>
            <a:ext cx="7589520" cy="1463040"/>
          </a:xfrm>
          <a:prstGeom prst="rect">
            <a:avLst/>
          </a:prstGeom>
          <a:noFill/>
          <a:ln/>
        </p:spPr>
        <p:txBody>
          <a:bodyPr wrap="square" rtlCol="0" anchor="t"/>
          <a:lstStyle/>
          <a:p>
            <a:pPr marL="0" indent="0">
              <a:buNone/>
            </a:pPr>
            <a:r>
              <a:rPr lang="en-US" sz="2600" dirty="0">
                <a:solidFill>
                  <a:srgbClr val="000000"/>
                </a:solidFill>
                <a:latin typeface="Segoe UI" pitchFamily="34" charset="0"/>
                <a:ea typeface="Segoe UI" pitchFamily="34" charset="-122"/>
                <a:cs typeface="Segoe UI" pitchFamily="34" charset="-120"/>
              </a:rPr>
              <a:t>What is a key responsibility of an AI architect to ensure AI solutions are effective and aligned with business priorities?</a:t>
            </a:r>
            <a:endParaRPr lang="en-US" sz="2600" dirty="0"/>
          </a:p>
        </p:txBody>
      </p:sp>
      <p:sp>
        <p:nvSpPr>
          <p:cNvPr id="5" name="Text 3"/>
          <p:cNvSpPr/>
          <p:nvPr/>
        </p:nvSpPr>
        <p:spPr>
          <a:xfrm>
            <a:off x="4160520" y="4343400"/>
            <a:ext cx="7498080" cy="128016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a) Defining the AI adoption vision and roadmap</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b) Writing code for AI models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c) Building physical servers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d) Conducting end-user training only</a:t>
            </a:r>
            <a:endParaRPr lang="en-US"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731520" y="594360"/>
            <a:ext cx="7315200" cy="457200"/>
          </a:xfrm>
          <a:prstGeom prst="rect">
            <a:avLst/>
          </a:prstGeom>
          <a:noFill/>
          <a:ln/>
        </p:spPr>
        <p:txBody>
          <a:bodyPr wrap="square" rtlCol="0" anchor="ctr"/>
          <a:lstStyle/>
          <a:p>
            <a:pPr marL="0" indent="0">
              <a:buNone/>
            </a:pPr>
            <a:r>
              <a:rPr lang="en-US" sz="2000" dirty="0">
                <a:solidFill>
                  <a:srgbClr val="000000"/>
                </a:solidFill>
                <a:latin typeface="Segoe UI" pitchFamily="34" charset="0"/>
                <a:ea typeface="Segoe UI" pitchFamily="34" charset="-122"/>
                <a:cs typeface="Segoe UI" pitchFamily="34" charset="-120"/>
              </a:rPr>
              <a:t>Knowledge check</a:t>
            </a:r>
            <a:endParaRPr lang="en-US" sz="2000" dirty="0"/>
          </a:p>
        </p:txBody>
      </p:sp>
      <p:sp>
        <p:nvSpPr>
          <p:cNvPr id="3" name="Text 1"/>
          <p:cNvSpPr/>
          <p:nvPr/>
        </p:nvSpPr>
        <p:spPr>
          <a:xfrm>
            <a:off x="4023360" y="2331720"/>
            <a:ext cx="5486400" cy="365760"/>
          </a:xfrm>
          <a:prstGeom prst="rect">
            <a:avLst/>
          </a:prstGeom>
          <a:noFill/>
          <a:ln/>
        </p:spPr>
        <p:txBody>
          <a:bodyPr wrap="square" rtlCol="0" anchor="ctr"/>
          <a:lstStyle/>
          <a:p>
            <a:pPr marL="0" indent="0">
              <a:buNone/>
            </a:pPr>
            <a:r>
              <a:rPr lang="en-US" sz="1800" b="1" dirty="0">
                <a:solidFill>
                  <a:srgbClr val="000000"/>
                </a:solidFill>
                <a:latin typeface="Segoe UI" pitchFamily="34" charset="0"/>
                <a:ea typeface="Segoe UI" pitchFamily="34" charset="-122"/>
                <a:cs typeface="Segoe UI" pitchFamily="34" charset="-120"/>
              </a:rPr>
              <a:t>Question 1</a:t>
            </a:r>
            <a:endParaRPr lang="en-US" sz="1800" dirty="0"/>
          </a:p>
        </p:txBody>
      </p:sp>
      <p:sp>
        <p:nvSpPr>
          <p:cNvPr id="4" name="Text 2"/>
          <p:cNvSpPr/>
          <p:nvPr/>
        </p:nvSpPr>
        <p:spPr>
          <a:xfrm>
            <a:off x="4023360" y="2788920"/>
            <a:ext cx="7589520" cy="1463040"/>
          </a:xfrm>
          <a:prstGeom prst="rect">
            <a:avLst/>
          </a:prstGeom>
          <a:noFill/>
          <a:ln/>
        </p:spPr>
        <p:txBody>
          <a:bodyPr wrap="square" rtlCol="0" anchor="t"/>
          <a:lstStyle/>
          <a:p>
            <a:pPr marL="0" indent="0">
              <a:buNone/>
            </a:pPr>
            <a:r>
              <a:rPr lang="en-US" sz="2600" dirty="0">
                <a:solidFill>
                  <a:srgbClr val="000000"/>
                </a:solidFill>
                <a:latin typeface="Segoe UI" pitchFamily="34" charset="0"/>
                <a:ea typeface="Segoe UI" pitchFamily="34" charset="-122"/>
                <a:cs typeface="Segoe UI" pitchFamily="34" charset="-120"/>
              </a:rPr>
              <a:t>Which best practice should architects follow to scale AI across the enterprise?</a:t>
            </a:r>
            <a:endParaRPr lang="en-US" sz="2600" dirty="0"/>
          </a:p>
        </p:txBody>
      </p:sp>
      <p:sp>
        <p:nvSpPr>
          <p:cNvPr id="5" name="Text 3"/>
          <p:cNvSpPr/>
          <p:nvPr/>
        </p:nvSpPr>
        <p:spPr>
          <a:xfrm>
            <a:off x="4160520" y="4343400"/>
            <a:ext cx="7498080" cy="1280160"/>
          </a:xfrm>
          <a:prstGeom prst="rect">
            <a:avLst/>
          </a:prstGeom>
          <a:noFill/>
          <a:ln/>
        </p:spPr>
        <p:txBody>
          <a:bodyPr wrap="square" rtlCol="0" anchor="t"/>
          <a:lstStyle/>
          <a:p>
            <a:pPr marL="0" indent="0">
              <a:buNone/>
            </a:pPr>
            <a:r>
              <a:rPr lang="en-US" sz="2000" dirty="0">
                <a:solidFill>
                  <a:srgbClr val="000000"/>
                </a:solidFill>
                <a:latin typeface="Segoe UI" pitchFamily="34" charset="0"/>
                <a:ea typeface="Segoe UI" pitchFamily="34" charset="-122"/>
                <a:cs typeface="Segoe UI" pitchFamily="34" charset="-120"/>
              </a:rPr>
              <a:t>a) Focus solely on technology upgrades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b) Adopt modular and flexible design principles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c) Avoid collaboration with business leaders</a:t>
            </a:r>
            <a:endParaRPr lang="en-US" sz="2000" dirty="0"/>
          </a:p>
          <a:p>
            <a:pPr marL="0" indent="0">
              <a:buNone/>
            </a:pPr>
            <a:r>
              <a:rPr lang="en-US" sz="2000" dirty="0">
                <a:solidFill>
                  <a:srgbClr val="000000"/>
                </a:solidFill>
                <a:latin typeface="Segoe UI" pitchFamily="34" charset="0"/>
                <a:ea typeface="Segoe UI" pitchFamily="34" charset="-122"/>
                <a:cs typeface="Segoe UI" pitchFamily="34" charset="-120"/>
              </a:rPr>
              <a:t>d) Implement AI without considering responsible AI principles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D0E815845A66342BBA31455CA188DBA" ma:contentTypeVersion="13" ma:contentTypeDescription="Create a new document." ma:contentTypeScope="" ma:versionID="e9c48417e25a8163fb9226f057e0802c">
  <xsd:schema xmlns:xsd="http://www.w3.org/2001/XMLSchema" xmlns:xs="http://www.w3.org/2001/XMLSchema" xmlns:p="http://schemas.microsoft.com/office/2006/metadata/properties" xmlns:ns1="http://schemas.microsoft.com/sharepoint/v3" xmlns:ns2="32268720-7544-4370-bafa-daa53cf67d5d" xmlns:ns3="7e076596-bcf8-4dd7-b6ad-10b2f5ddc26b" targetNamespace="http://schemas.microsoft.com/office/2006/metadata/properties" ma:root="true" ma:fieldsID="da066b72fcc225b94b6a5cefedb4943f" ns1:_="" ns2:_="" ns3:_="">
    <xsd:import namespace="http://schemas.microsoft.com/sharepoint/v3"/>
    <xsd:import namespace="32268720-7544-4370-bafa-daa53cf67d5d"/>
    <xsd:import namespace="7e076596-bcf8-4dd7-b6ad-10b2f5ddc26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1:_ip_UnifiedCompliancePolicyProperties" minOccurs="0"/>
                <xsd:element ref="ns1:_ip_UnifiedCompliancePolicyUIAction"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2268720-7544-4370-bafa-daa53cf67d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e076596-bcf8-4dd7-b6ad-10b2f5ddc26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1066e21-d24b-42ea-ae12-5811e3f22bd7}" ma:internalName="TaxCatchAll" ma:showField="CatchAllData" ma:web="7e076596-bcf8-4dd7-b6ad-10b2f5ddc2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32268720-7544-4370-bafa-daa53cf67d5d">
      <Terms xmlns="http://schemas.microsoft.com/office/infopath/2007/PartnerControls"/>
    </lcf76f155ced4ddcb4097134ff3c332f>
    <TaxCatchAll xmlns="7e076596-bcf8-4dd7-b6ad-10b2f5ddc26b"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AD3937D5-0E76-4281-9A06-EF48358932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2268720-7544-4370-bafa-daa53cf67d5d"/>
    <ds:schemaRef ds:uri="7e076596-bcf8-4dd7-b6ad-10b2f5ddc2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07799D1-7D98-4F12-B269-C600B74FFCD7}">
  <ds:schemaRefs>
    <ds:schemaRef ds:uri="http://schemas.microsoft.com/sharepoint/v3/contenttype/forms"/>
  </ds:schemaRefs>
</ds:datastoreItem>
</file>

<file path=customXml/itemProps3.xml><?xml version="1.0" encoding="utf-8"?>
<ds:datastoreItem xmlns:ds="http://schemas.openxmlformats.org/officeDocument/2006/customXml" ds:itemID="{92329329-870A-4D4D-BA26-D922F473BFA6}">
  <ds:schemaRefs>
    <ds:schemaRef ds:uri="http://schemas.openxmlformats.org/package/2006/metadata/core-properties"/>
    <ds:schemaRef ds:uri="http://purl.org/dc/terms/"/>
    <ds:schemaRef ds:uri="http://schemas.microsoft.com/office/2006/documentManagement/types"/>
    <ds:schemaRef ds:uri="http://purl.org/dc/elements/1.1/"/>
    <ds:schemaRef ds:uri="http://schemas.microsoft.com/office/infopath/2007/PartnerControls"/>
    <ds:schemaRef ds:uri="http://purl.org/dc/dcmitype/"/>
    <ds:schemaRef ds:uri="http://schemas.microsoft.com/office/2006/metadata/properties"/>
    <ds:schemaRef ds:uri="7d85abbe-4a5c-4dc8-8ee5-ef9beb41142a"/>
    <ds:schemaRef ds:uri="http://www.w3.org/XML/1998/namespace"/>
    <ds:schemaRef ds:uri="http://schemas.microsoft.com/sharepoint/v3"/>
    <ds:schemaRef ds:uri="32268720-7544-4370-bafa-daa53cf67d5d"/>
    <ds:schemaRef ds:uri="7e076596-bcf8-4dd7-b6ad-10b2f5ddc26b"/>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406</TotalTime>
  <Words>3078</Words>
  <Application>Microsoft Office PowerPoint</Application>
  <PresentationFormat>Widescreen</PresentationFormat>
  <Paragraphs>338</Paragraphs>
  <Slides>51</Slides>
  <Notes>51</Notes>
  <HiddenSlides>0</HiddenSlides>
  <MMClips>0</MMClip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Justin Carter</cp:lastModifiedBy>
  <cp:revision>3</cp:revision>
  <dcterms:created xsi:type="dcterms:W3CDTF">2026-03-16T18:36:00Z</dcterms:created>
  <dcterms:modified xsi:type="dcterms:W3CDTF">2026-03-18T16:58:14Z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0x0101008D0E815845A66342BBA31455CA188DBA</vt:lpwstr>
  </property>
  <property fmtid="{D5CDD505-2E9C-101B-9397-08002B2CF9AE}" pid="3" name="MediaServiceImageTags">
    <vt:lpwstr/>
  </property>
</Properties>
</file>