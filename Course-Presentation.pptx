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2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3999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5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line">
            <a:avLst/>
          </a:prstGeom>
          <a:solidFill>
            <a:srgbClr val="2563EB">
              <a:alpha val="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0" y="1828800"/>
            <a:ext cx="7315200" cy="7315200"/>
          </a:xfrm>
          <a:prstGeom prst="line">
            <a:avLst/>
          </a:prstGeom>
          <a:solidFill>
            <a:srgbClr val="F59E0B">
              <a:alpha val="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365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Gennoor</a:t>
            </a:r>
            <a:r>
              <a:rPr lang="en-US" sz="2000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 INNOVATE. BUILD.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31520" y="1645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Enterprise Partner for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103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Cloud </a:t>
            </a: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31520" y="31089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teams worldwide with hands-on AI, Microsoft, and Cloud training — from C-suite strategy to production engineering.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3931920"/>
            <a:ext cx="73152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31520" y="4160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31520" y="44988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743200" y="4160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743200" y="44988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754880" y="4160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754880" y="44988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766560" y="4160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14+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766560" y="44988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EXP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31520" y="4754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www.gennoor.com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82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Gennoor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</a:t>
            </a: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Gennoor Tech?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deliver enterprise-grade AI and Cloud training that transforms how organizations work — backed by real-world consulting experience, not just classroom theory.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82880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57200" y="1828800"/>
            <a:ext cx="54864" cy="12344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640080" y="2057400"/>
            <a:ext cx="384048" cy="384048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212140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Certified Trainer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43000" y="2286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MCT-credentialed since 2022 with 16+ active Microsoft certifications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3291840" y="182880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3291840" y="1828800"/>
            <a:ext cx="54864" cy="1234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3474720" y="2057400"/>
            <a:ext cx="384048" cy="384048"/>
          </a:xfrm>
          <a:prstGeom prst="lin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8728" y="212140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7764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Delivery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3977640" y="2286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teams across GCC, Africa, APAC, and UK in 6+ countries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6126480" y="182880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126480" y="1828800"/>
            <a:ext cx="54864" cy="12344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6309360" y="2057400"/>
            <a:ext cx="384048" cy="384048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2121408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1228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Clients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6812280" y="2286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Microsoft, EY, IBM, Boeing, Saudi Aramco, HDFC Bank, and 80+ organizations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457200" y="324612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457200" y="3246120"/>
            <a:ext cx="54864" cy="1234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640080" y="3474720"/>
            <a:ext cx="384048" cy="384048"/>
          </a:xfrm>
          <a:prstGeom prst="lin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" y="3538728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4300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Curriculum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4300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courses covering Agentic AI, GenAI, MLOps, RAG, LLMs, and more</a:t>
            </a:r>
            <a:endParaRPr lang="en-US" sz="800" dirty="0"/>
          </a:p>
        </p:txBody>
      </p:sp>
      <p:sp>
        <p:nvSpPr>
          <p:cNvPr id="31" name="Shape 24"/>
          <p:cNvSpPr/>
          <p:nvPr/>
        </p:nvSpPr>
        <p:spPr>
          <a:xfrm>
            <a:off x="3291840" y="324612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5"/>
          <p:cNvSpPr/>
          <p:nvPr/>
        </p:nvSpPr>
        <p:spPr>
          <a:xfrm>
            <a:off x="3291840" y="3246120"/>
            <a:ext cx="54864" cy="12344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26"/>
          <p:cNvSpPr/>
          <p:nvPr/>
        </p:nvSpPr>
        <p:spPr>
          <a:xfrm>
            <a:off x="3474720" y="3474720"/>
            <a:ext cx="384048" cy="384048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38728" y="3538728"/>
            <a:ext cx="256032" cy="25603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97764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Focus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397764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course includes labs, projects, and real-world scenarios — not just slides</a:t>
            </a:r>
            <a:endParaRPr lang="en-US" sz="800" dirty="0"/>
          </a:p>
        </p:txBody>
      </p:sp>
      <p:sp>
        <p:nvSpPr>
          <p:cNvPr id="37" name="Shape 29"/>
          <p:cNvSpPr/>
          <p:nvPr/>
        </p:nvSpPr>
        <p:spPr>
          <a:xfrm>
            <a:off x="6126480" y="324612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0"/>
          <p:cNvSpPr/>
          <p:nvPr/>
        </p:nvSpPr>
        <p:spPr>
          <a:xfrm>
            <a:off x="6126480" y="3246120"/>
            <a:ext cx="54864" cy="1234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1"/>
          <p:cNvSpPr/>
          <p:nvPr/>
        </p:nvSpPr>
        <p:spPr>
          <a:xfrm>
            <a:off x="6309360" y="3474720"/>
            <a:ext cx="384048" cy="384048"/>
          </a:xfrm>
          <a:prstGeom prst="lin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3368" y="3538728"/>
            <a:ext cx="256032" cy="256032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81228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Customizable</a:t>
            </a:r>
            <a:endParaRPr lang="en-US" sz="1000" dirty="0"/>
          </a:p>
        </p:txBody>
      </p:sp>
      <p:sp>
        <p:nvSpPr>
          <p:cNvPr id="42" name="Text 33"/>
          <p:cNvSpPr/>
          <p:nvPr/>
        </p:nvSpPr>
        <p:spPr>
          <a:xfrm>
            <a:off x="681228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schedule, and depth tailored to your organization's specific needs</a:t>
            </a:r>
            <a:endParaRPr lang="en-US" sz="800" dirty="0"/>
          </a:p>
        </p:txBody>
      </p:sp>
      <p:sp>
        <p:nvSpPr>
          <p:cNvPr id="43" name="Text 3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www.gennoor.com  ·  enquiry@gennoor.com  ·  +91 9326 352 241</a:t>
            </a:r>
            <a:endParaRPr lang="en-US" sz="800" dirty="0"/>
          </a:p>
        </p:txBody>
      </p:sp>
      <p:sp>
        <p:nvSpPr>
          <p:cNvPr id="44" name="Text 35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82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Gennoor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</a:t>
            </a: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courses organized into 4 tracks — from executive strategy to deep engineering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57200" y="1554480"/>
            <a:ext cx="54864" cy="1508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40080" y="1664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&amp; Strategy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011680"/>
            <a:ext cx="146304" cy="1463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198424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for Business Leaders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249424"/>
            <a:ext cx="146304" cy="1463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8680" y="222199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AI Leadership</a:t>
            </a:r>
            <a:endParaRPr lang="en-US" sz="9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487168"/>
            <a:ext cx="146304" cy="14630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68680" y="245973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BFSI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724912"/>
            <a:ext cx="146304" cy="14630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68680" y="26974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Government &amp; Public Sector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>
            <a:off x="4709160" y="155448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2"/>
          <p:cNvSpPr/>
          <p:nvPr/>
        </p:nvSpPr>
        <p:spPr>
          <a:xfrm>
            <a:off x="4709160" y="1554480"/>
            <a:ext cx="54864" cy="1508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3"/>
          <p:cNvSpPr/>
          <p:nvPr/>
        </p:nvSpPr>
        <p:spPr>
          <a:xfrm>
            <a:off x="4892040" y="1664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GenAI Mastery</a:t>
            </a:r>
            <a:endParaRPr lang="en-US" sz="12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011680"/>
            <a:ext cx="146304" cy="14630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120640" y="198424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&amp; Copilot Mastery</a:t>
            </a:r>
            <a:endParaRPr lang="en-US" sz="9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249424"/>
            <a:ext cx="146304" cy="14630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120640" y="222199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Mastery</a:t>
            </a:r>
            <a:endParaRPr lang="en-US" sz="9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487168"/>
            <a:ext cx="146304" cy="146304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120640" y="245973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Masterclass</a:t>
            </a:r>
            <a:endParaRPr lang="en-US" sz="9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724912"/>
            <a:ext cx="146304" cy="146304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120640" y="26974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 &amp; Responsible AI</a:t>
            </a:r>
            <a:endParaRPr lang="en-US" sz="900" dirty="0"/>
          </a:p>
        </p:txBody>
      </p:sp>
      <p:sp>
        <p:nvSpPr>
          <p:cNvPr id="29" name="Shape 18"/>
          <p:cNvSpPr/>
          <p:nvPr/>
        </p:nvSpPr>
        <p:spPr>
          <a:xfrm>
            <a:off x="457200" y="324612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19"/>
          <p:cNvSpPr/>
          <p:nvPr/>
        </p:nvSpPr>
        <p:spPr>
          <a:xfrm>
            <a:off x="457200" y="3246120"/>
            <a:ext cx="54864" cy="1508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0"/>
          <p:cNvSpPr/>
          <p:nvPr/>
        </p:nvSpPr>
        <p:spPr>
          <a:xfrm>
            <a:off x="640080" y="33558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Development</a:t>
            </a:r>
            <a:endParaRPr lang="en-US" sz="120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03320"/>
            <a:ext cx="146304" cy="146304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868680" y="36758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Engineering</a:t>
            </a:r>
            <a:endParaRPr lang="en-US" sz="900" dirty="0"/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41064"/>
            <a:ext cx="146304" cy="146304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868680" y="39136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Engineering</a:t>
            </a:r>
            <a:endParaRPr lang="en-US" sz="900" dirty="0"/>
          </a:p>
        </p:txBody>
      </p:sp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78808"/>
            <a:ext cx="146304" cy="146304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868680" y="41513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ML</a:t>
            </a:r>
            <a:endParaRPr lang="en-US" sz="900" dirty="0"/>
          </a:p>
        </p:txBody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416552"/>
            <a:ext cx="146304" cy="146304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868680" y="43891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 Computer Vision</a:t>
            </a:r>
            <a:endParaRPr lang="en-US" sz="900" dirty="0"/>
          </a:p>
        </p:txBody>
      </p:sp>
      <p:sp>
        <p:nvSpPr>
          <p:cNvPr id="40" name="Shape 25"/>
          <p:cNvSpPr/>
          <p:nvPr/>
        </p:nvSpPr>
        <p:spPr>
          <a:xfrm>
            <a:off x="4709160" y="324612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26"/>
          <p:cNvSpPr/>
          <p:nvPr/>
        </p:nvSpPr>
        <p:spPr>
          <a:xfrm>
            <a:off x="4709160" y="3246120"/>
            <a:ext cx="54864" cy="1508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27"/>
          <p:cNvSpPr/>
          <p:nvPr/>
        </p:nvSpPr>
        <p:spPr>
          <a:xfrm>
            <a:off x="4892040" y="33558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Specialty</a:t>
            </a:r>
            <a:endParaRPr lang="en-US" sz="1200" dirty="0"/>
          </a:p>
        </p:txBody>
      </p:sp>
      <p:pic>
        <p:nvPicPr>
          <p:cNvPr id="43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703320"/>
            <a:ext cx="146304" cy="146304"/>
          </a:xfrm>
          <a:prstGeom prst="rect">
            <a:avLst/>
          </a:prstGeom>
        </p:spPr>
      </p:pic>
      <p:sp>
        <p:nvSpPr>
          <p:cNvPr id="44" name="Text 28"/>
          <p:cNvSpPr/>
          <p:nvPr/>
        </p:nvSpPr>
        <p:spPr>
          <a:xfrm>
            <a:off x="5120640" y="36758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AI for Developers</a:t>
            </a:r>
            <a:endParaRPr lang="en-US" sz="900" dirty="0"/>
          </a:p>
        </p:txBody>
      </p:sp>
      <p:pic>
        <p:nvPicPr>
          <p:cNvPr id="45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941064"/>
            <a:ext cx="146304" cy="146304"/>
          </a:xfrm>
          <a:prstGeom prst="rect">
            <a:avLst/>
          </a:prstGeom>
        </p:spPr>
      </p:pic>
      <p:sp>
        <p:nvSpPr>
          <p:cNvPr id="46" name="Text 29"/>
          <p:cNvSpPr/>
          <p:nvPr/>
        </p:nvSpPr>
        <p:spPr>
          <a:xfrm>
            <a:off x="5120640" y="39136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on Google Cloud</a:t>
            </a:r>
            <a:endParaRPr lang="en-US" sz="900" dirty="0"/>
          </a:p>
        </p:txBody>
      </p:sp>
      <p:pic>
        <p:nvPicPr>
          <p:cNvPr id="47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4178808"/>
            <a:ext cx="146304" cy="146304"/>
          </a:xfrm>
          <a:prstGeom prst="rect">
            <a:avLst/>
          </a:prstGeom>
        </p:spPr>
      </p:pic>
      <p:sp>
        <p:nvSpPr>
          <p:cNvPr id="48" name="Text 30"/>
          <p:cNvSpPr/>
          <p:nvPr/>
        </p:nvSpPr>
        <p:spPr>
          <a:xfrm>
            <a:off x="5120640" y="41513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on AWS</a:t>
            </a:r>
            <a:endParaRPr lang="en-US" sz="900" dirty="0"/>
          </a:p>
        </p:txBody>
      </p:sp>
      <p:pic>
        <p:nvPicPr>
          <p:cNvPr id="49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4416552"/>
            <a:ext cx="146304" cy="146304"/>
          </a:xfrm>
          <a:prstGeom prst="rect">
            <a:avLst/>
          </a:prstGeom>
        </p:spPr>
      </p:pic>
      <p:sp>
        <p:nvSpPr>
          <p:cNvPr id="50" name="Text 31"/>
          <p:cNvSpPr/>
          <p:nvPr/>
        </p:nvSpPr>
        <p:spPr>
          <a:xfrm>
            <a:off x="5120640" y="43891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for Developers</a:t>
            </a:r>
            <a:endParaRPr lang="en-US" sz="900" dirty="0"/>
          </a:p>
        </p:txBody>
      </p:sp>
      <p:sp>
        <p:nvSpPr>
          <p:cNvPr id="51" name="Text 32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+ 10 more specialized courses including Fine-Tuning LLMs, N8N Automation, Conversational AI, MLOps, AI Testing, Power Platform &amp; more</a:t>
            </a:r>
            <a:endParaRPr lang="en-US" sz="800" dirty="0"/>
          </a:p>
        </p:txBody>
      </p:sp>
      <p:sp>
        <p:nvSpPr>
          <p:cNvPr id="52" name="Text 3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www.gennoor.com  ·  enquiry@gennoor.com  ·  +91 9326 352 241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82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Gennoor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</a:t>
            </a: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Bootcamps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hours of intensive, hands-on learning · Live demos · Labs · Capstone projects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50876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94360" y="1645920"/>
            <a:ext cx="457200" cy="3840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88720" y="16184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Business Leaders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4360" y="2194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CXOs, Managers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94360" y="2468880"/>
            <a:ext cx="2377440" cy="2743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8580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coding required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291840" y="150876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3429000" y="1645920"/>
            <a:ext cx="457200" cy="38404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3429000" y="164592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023360" y="16184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&amp;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Mastery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429000" y="2194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+ Business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429000" y="2468880"/>
            <a:ext cx="2377440" cy="2743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352044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hands-on labs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126480" y="150876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6263640" y="1645920"/>
            <a:ext cx="457200" cy="3840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263640" y="164592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858000" y="16184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263640" y="2194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Developers, Architects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263640" y="2468880"/>
            <a:ext cx="2377440" cy="2743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635508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LangChain, MCP, CrewAI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57200" y="310896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594360" y="3246120"/>
            <a:ext cx="457200" cy="38404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594360" y="324612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188720" y="32186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94360" y="3794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Scientists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594360" y="4069080"/>
            <a:ext cx="2377440" cy="2743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685800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pipelines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3291840" y="310896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3"/>
          <p:cNvSpPr/>
          <p:nvPr/>
        </p:nvSpPr>
        <p:spPr>
          <a:xfrm>
            <a:off x="3429000" y="3246120"/>
            <a:ext cx="457200" cy="3840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3429000" y="324612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4023360" y="32186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3429000" y="3794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Engineers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3429000" y="4069080"/>
            <a:ext cx="2377440" cy="2743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3520440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PyTorch, CNNs, GANs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126480" y="310896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0"/>
          <p:cNvSpPr/>
          <p:nvPr/>
        </p:nvSpPr>
        <p:spPr>
          <a:xfrm>
            <a:off x="6263640" y="3246120"/>
            <a:ext cx="457200" cy="38404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6263640" y="324612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6858000" y="32186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AI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MLOps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6263640" y="3794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DevOps, ML Engineers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6263640" y="4069080"/>
            <a:ext cx="2377440" cy="2743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6355080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for ML models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 more 5-day bootcamps: AI Development Framework, Microsoft AI, Google Cloud AI, AWS AI, AB-100 Prep, Claude AI Development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www.gennoor.com  ·  enquiry@gennoor.com  ·  +91 9326 352 241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82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Gennoor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Intensive </a:t>
            </a: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Day Courses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Focused, time-efficient programs for targeted upskilling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50876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94360" y="1645920"/>
            <a:ext cx="320040" cy="32004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1700784"/>
            <a:ext cx="210312" cy="2103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16002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AI Leadership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1005840" y="2103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2606040" y="150876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2743200" y="1645920"/>
            <a:ext cx="320040" cy="32004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8064" y="1700784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16002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Mastery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3154680" y="2103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</a:t>
            </a:r>
            <a:endParaRPr lang="en-US" sz="750" dirty="0"/>
          </a:p>
        </p:txBody>
      </p:sp>
      <p:sp>
        <p:nvSpPr>
          <p:cNvPr id="17" name="Shape 12"/>
          <p:cNvSpPr/>
          <p:nvPr/>
        </p:nvSpPr>
        <p:spPr>
          <a:xfrm>
            <a:off x="4754880" y="150876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4892040" y="1645920"/>
            <a:ext cx="320040" cy="32004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6904" y="1700784"/>
            <a:ext cx="210312" cy="2103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03520" y="16002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Masterclass</a:t>
            </a:r>
            <a:endParaRPr lang="en-US" sz="850" dirty="0"/>
          </a:p>
        </p:txBody>
      </p:sp>
      <p:sp>
        <p:nvSpPr>
          <p:cNvPr id="21" name="Text 15"/>
          <p:cNvSpPr/>
          <p:nvPr/>
        </p:nvSpPr>
        <p:spPr>
          <a:xfrm>
            <a:off x="5303520" y="2103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</a:t>
            </a:r>
            <a:endParaRPr lang="en-US" sz="750" dirty="0"/>
          </a:p>
        </p:txBody>
      </p:sp>
      <p:sp>
        <p:nvSpPr>
          <p:cNvPr id="22" name="Shape 16"/>
          <p:cNvSpPr/>
          <p:nvPr/>
        </p:nvSpPr>
        <p:spPr>
          <a:xfrm>
            <a:off x="6903720" y="150876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7"/>
          <p:cNvSpPr/>
          <p:nvPr/>
        </p:nvSpPr>
        <p:spPr>
          <a:xfrm>
            <a:off x="7040880" y="1645920"/>
            <a:ext cx="320040" cy="32004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5744" y="1700784"/>
            <a:ext cx="210312" cy="21031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452360" y="16002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for Developers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7452360" y="2103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</a:t>
            </a:r>
            <a:endParaRPr lang="en-US" sz="750" dirty="0"/>
          </a:p>
        </p:txBody>
      </p:sp>
      <p:sp>
        <p:nvSpPr>
          <p:cNvPr id="27" name="Shape 20"/>
          <p:cNvSpPr/>
          <p:nvPr/>
        </p:nvSpPr>
        <p:spPr>
          <a:xfrm>
            <a:off x="457200" y="260604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1"/>
          <p:cNvSpPr/>
          <p:nvPr/>
        </p:nvSpPr>
        <p:spPr>
          <a:xfrm>
            <a:off x="594360" y="2743200"/>
            <a:ext cx="320040" cy="320040"/>
          </a:xfrm>
          <a:prstGeom prst="lin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" y="2798064"/>
            <a:ext cx="210312" cy="21031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005840" y="2697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 &amp; Responsible AI</a:t>
            </a:r>
            <a:endParaRPr lang="en-US" sz="850" dirty="0"/>
          </a:p>
        </p:txBody>
      </p:sp>
      <p:sp>
        <p:nvSpPr>
          <p:cNvPr id="31" name="Text 23"/>
          <p:cNvSpPr/>
          <p:nvPr/>
        </p:nvSpPr>
        <p:spPr>
          <a:xfrm>
            <a:off x="1005840" y="3200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</a:t>
            </a:r>
            <a:endParaRPr lang="en-US" sz="750" dirty="0"/>
          </a:p>
        </p:txBody>
      </p:sp>
      <p:sp>
        <p:nvSpPr>
          <p:cNvPr id="32" name="Shape 24"/>
          <p:cNvSpPr/>
          <p:nvPr/>
        </p:nvSpPr>
        <p:spPr>
          <a:xfrm>
            <a:off x="2606040" y="260604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25"/>
          <p:cNvSpPr/>
          <p:nvPr/>
        </p:nvSpPr>
        <p:spPr>
          <a:xfrm>
            <a:off x="2743200" y="2743200"/>
            <a:ext cx="320040" cy="320040"/>
          </a:xfrm>
          <a:prstGeom prst="lin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8064" y="2798064"/>
            <a:ext cx="210312" cy="21031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3154680" y="2697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&amp; AI Workflow Automation</a:t>
            </a:r>
            <a:endParaRPr lang="en-US" sz="850" dirty="0"/>
          </a:p>
        </p:txBody>
      </p:sp>
      <p:sp>
        <p:nvSpPr>
          <p:cNvPr id="36" name="Text 27"/>
          <p:cNvSpPr/>
          <p:nvPr/>
        </p:nvSpPr>
        <p:spPr>
          <a:xfrm>
            <a:off x="3154680" y="3200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</a:t>
            </a:r>
            <a:endParaRPr lang="en-US" sz="750" dirty="0"/>
          </a:p>
        </p:txBody>
      </p:sp>
      <p:sp>
        <p:nvSpPr>
          <p:cNvPr id="37" name="Shape 28"/>
          <p:cNvSpPr/>
          <p:nvPr/>
        </p:nvSpPr>
        <p:spPr>
          <a:xfrm>
            <a:off x="4754880" y="260604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29"/>
          <p:cNvSpPr/>
          <p:nvPr/>
        </p:nvSpPr>
        <p:spPr>
          <a:xfrm>
            <a:off x="4892040" y="2743200"/>
            <a:ext cx="320040" cy="320040"/>
          </a:xfrm>
          <a:prstGeom prst="lin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46904" y="2798064"/>
            <a:ext cx="210312" cy="210312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5303520" y="2697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Fundamentals</a:t>
            </a:r>
            <a:endParaRPr lang="en-US" sz="850" dirty="0"/>
          </a:p>
        </p:txBody>
      </p:sp>
      <p:sp>
        <p:nvSpPr>
          <p:cNvPr id="41" name="Text 31"/>
          <p:cNvSpPr/>
          <p:nvPr/>
        </p:nvSpPr>
        <p:spPr>
          <a:xfrm>
            <a:off x="5303520" y="3200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750" dirty="0"/>
          </a:p>
        </p:txBody>
      </p:sp>
      <p:sp>
        <p:nvSpPr>
          <p:cNvPr id="42" name="Shape 32"/>
          <p:cNvSpPr/>
          <p:nvPr/>
        </p:nvSpPr>
        <p:spPr>
          <a:xfrm>
            <a:off x="6903720" y="260604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33"/>
          <p:cNvSpPr/>
          <p:nvPr/>
        </p:nvSpPr>
        <p:spPr>
          <a:xfrm>
            <a:off x="7040880" y="2743200"/>
            <a:ext cx="320040" cy="320040"/>
          </a:xfrm>
          <a:prstGeom prst="lin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5744" y="2798064"/>
            <a:ext cx="210312" cy="210312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7452360" y="2697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Platform + AI</a:t>
            </a:r>
            <a:endParaRPr lang="en-US" sz="850" dirty="0"/>
          </a:p>
        </p:txBody>
      </p:sp>
      <p:sp>
        <p:nvSpPr>
          <p:cNvPr id="46" name="Text 35"/>
          <p:cNvSpPr/>
          <p:nvPr/>
        </p:nvSpPr>
        <p:spPr>
          <a:xfrm>
            <a:off x="7452360" y="3200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750" dirty="0"/>
          </a:p>
        </p:txBody>
      </p:sp>
      <p:sp>
        <p:nvSpPr>
          <p:cNvPr id="47" name="Shape 36"/>
          <p:cNvSpPr/>
          <p:nvPr/>
        </p:nvSpPr>
        <p:spPr>
          <a:xfrm>
            <a:off x="457200" y="370332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37"/>
          <p:cNvSpPr/>
          <p:nvPr/>
        </p:nvSpPr>
        <p:spPr>
          <a:xfrm>
            <a:off x="594360" y="3840480"/>
            <a:ext cx="320040" cy="32004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3895344"/>
            <a:ext cx="210312" cy="210312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1005840" y="3794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Engineering</a:t>
            </a:r>
            <a:endParaRPr lang="en-US" sz="850" dirty="0"/>
          </a:p>
        </p:txBody>
      </p:sp>
      <p:sp>
        <p:nvSpPr>
          <p:cNvPr id="51" name="Text 39"/>
          <p:cNvSpPr/>
          <p:nvPr/>
        </p:nvSpPr>
        <p:spPr>
          <a:xfrm>
            <a:off x="1005840" y="42976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750" dirty="0"/>
          </a:p>
        </p:txBody>
      </p:sp>
      <p:sp>
        <p:nvSpPr>
          <p:cNvPr id="52" name="Shape 40"/>
          <p:cNvSpPr/>
          <p:nvPr/>
        </p:nvSpPr>
        <p:spPr>
          <a:xfrm>
            <a:off x="2606040" y="370332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Shape 41"/>
          <p:cNvSpPr/>
          <p:nvPr/>
        </p:nvSpPr>
        <p:spPr>
          <a:xfrm>
            <a:off x="2743200" y="3840480"/>
            <a:ext cx="320040" cy="32004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4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8064" y="3895344"/>
            <a:ext cx="210312" cy="210312"/>
          </a:xfrm>
          <a:prstGeom prst="rect">
            <a:avLst/>
          </a:prstGeom>
        </p:spPr>
      </p:pic>
      <p:sp>
        <p:nvSpPr>
          <p:cNvPr id="55" name="Text 42"/>
          <p:cNvSpPr/>
          <p:nvPr/>
        </p:nvSpPr>
        <p:spPr>
          <a:xfrm>
            <a:off x="3154680" y="3794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&amp; Custom LLMs</a:t>
            </a:r>
            <a:endParaRPr lang="en-US" sz="850" dirty="0"/>
          </a:p>
        </p:txBody>
      </p:sp>
      <p:sp>
        <p:nvSpPr>
          <p:cNvPr id="56" name="Text 43"/>
          <p:cNvSpPr/>
          <p:nvPr/>
        </p:nvSpPr>
        <p:spPr>
          <a:xfrm>
            <a:off x="3154680" y="42976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750" dirty="0"/>
          </a:p>
        </p:txBody>
      </p:sp>
      <p:sp>
        <p:nvSpPr>
          <p:cNvPr id="57" name="Shape 44"/>
          <p:cNvSpPr/>
          <p:nvPr/>
        </p:nvSpPr>
        <p:spPr>
          <a:xfrm>
            <a:off x="4754880" y="370332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8" name="Shape 45"/>
          <p:cNvSpPr/>
          <p:nvPr/>
        </p:nvSpPr>
        <p:spPr>
          <a:xfrm>
            <a:off x="4892040" y="3840480"/>
            <a:ext cx="320040" cy="32004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9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46904" y="3895344"/>
            <a:ext cx="210312" cy="210312"/>
          </a:xfrm>
          <a:prstGeom prst="rect">
            <a:avLst/>
          </a:prstGeom>
        </p:spPr>
      </p:pic>
      <p:sp>
        <p:nvSpPr>
          <p:cNvPr id="60" name="Text 46"/>
          <p:cNvSpPr/>
          <p:nvPr/>
        </p:nvSpPr>
        <p:spPr>
          <a:xfrm>
            <a:off x="5303520" y="3794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BFSI</a:t>
            </a:r>
            <a:endParaRPr lang="en-US" sz="850" dirty="0"/>
          </a:p>
        </p:txBody>
      </p:sp>
      <p:sp>
        <p:nvSpPr>
          <p:cNvPr id="61" name="Text 47"/>
          <p:cNvSpPr/>
          <p:nvPr/>
        </p:nvSpPr>
        <p:spPr>
          <a:xfrm>
            <a:off x="5303520" y="42976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750" dirty="0"/>
          </a:p>
        </p:txBody>
      </p:sp>
      <p:sp>
        <p:nvSpPr>
          <p:cNvPr id="62" name="Shape 48"/>
          <p:cNvSpPr/>
          <p:nvPr/>
        </p:nvSpPr>
        <p:spPr>
          <a:xfrm>
            <a:off x="6903720" y="370332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3" name="Shape 49"/>
          <p:cNvSpPr/>
          <p:nvPr/>
        </p:nvSpPr>
        <p:spPr>
          <a:xfrm>
            <a:off x="7040880" y="3840480"/>
            <a:ext cx="320040" cy="32004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95744" y="3895344"/>
            <a:ext cx="210312" cy="210312"/>
          </a:xfrm>
          <a:prstGeom prst="rect">
            <a:avLst/>
          </a:prstGeom>
        </p:spPr>
      </p:pic>
      <p:sp>
        <p:nvSpPr>
          <p:cNvPr id="65" name="Text 50"/>
          <p:cNvSpPr/>
          <p:nvPr/>
        </p:nvSpPr>
        <p:spPr>
          <a:xfrm>
            <a:off x="7452360" y="3794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Government</a:t>
            </a:r>
            <a:endParaRPr lang="en-US" sz="850" dirty="0"/>
          </a:p>
        </p:txBody>
      </p:sp>
      <p:sp>
        <p:nvSpPr>
          <p:cNvPr id="66" name="Text 51"/>
          <p:cNvSpPr/>
          <p:nvPr/>
        </p:nvSpPr>
        <p:spPr>
          <a:xfrm>
            <a:off x="7452360" y="42976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750" dirty="0"/>
          </a:p>
        </p:txBody>
      </p:sp>
      <p:sp>
        <p:nvSpPr>
          <p:cNvPr id="67" name="Text 5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www.gennoor.com  ·  enquiry@gennoor.com  ·  +91 9326 352 241</a:t>
            </a:r>
            <a:endParaRPr lang="en-US" sz="800" dirty="0"/>
          </a:p>
        </p:txBody>
      </p:sp>
      <p:sp>
        <p:nvSpPr>
          <p:cNvPr id="68" name="Text 5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</a:t>
            </a: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7200" y="1143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AI training programs designed for your sector's specific challenges and opportunities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1508760"/>
            <a:ext cx="4023360" cy="1508760"/>
          </a:xfrm>
          <a:prstGeom prst="rect">
            <a:avLst/>
          </a:prstGeom>
          <a:solidFill>
            <a:srgbClr val="1F2937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54864" cy="1508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365760" cy="36576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175564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16733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Financial Services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103120"/>
            <a:ext cx="128016" cy="12801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207568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&amp; AML with AI</a:t>
            </a:r>
            <a:endParaRPr lang="en-US" sz="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313432"/>
            <a:ext cx="128016" cy="12801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2286000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credit risk scoring</a:t>
            </a:r>
            <a:endParaRPr lang="en-US" sz="9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523744"/>
            <a:ext cx="128016" cy="12801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4400" y="2496312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document processing</a:t>
            </a:r>
            <a:endParaRPr lang="en-US" sz="9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734056"/>
            <a:ext cx="128016" cy="12801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14400" y="2706624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 automation</a:t>
            </a:r>
            <a:endParaRPr lang="en-US" sz="900" dirty="0"/>
          </a:p>
        </p:txBody>
      </p:sp>
      <p:sp>
        <p:nvSpPr>
          <p:cNvPr id="18" name="Shape 10"/>
          <p:cNvSpPr/>
          <p:nvPr/>
        </p:nvSpPr>
        <p:spPr>
          <a:xfrm>
            <a:off x="4709160" y="1508760"/>
            <a:ext cx="4023360" cy="1508760"/>
          </a:xfrm>
          <a:prstGeom prst="rect">
            <a:avLst/>
          </a:prstGeom>
          <a:solidFill>
            <a:srgbClr val="1F2937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1"/>
          <p:cNvSpPr/>
          <p:nvPr/>
        </p:nvSpPr>
        <p:spPr>
          <a:xfrm>
            <a:off x="4709160" y="1508760"/>
            <a:ext cx="54864" cy="1508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2"/>
          <p:cNvSpPr/>
          <p:nvPr/>
        </p:nvSpPr>
        <p:spPr>
          <a:xfrm>
            <a:off x="4892040" y="1691640"/>
            <a:ext cx="365760" cy="365760"/>
          </a:xfrm>
          <a:prstGeom prst="lin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1755648"/>
            <a:ext cx="237744" cy="23774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394960" y="16733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Public Sector</a:t>
            </a:r>
            <a:endParaRPr lang="en-US" sz="12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103120"/>
            <a:ext cx="128016" cy="128016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166360" y="207568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service AI chatbots</a:t>
            </a:r>
            <a:endParaRPr lang="en-US" sz="9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313432"/>
            <a:ext cx="128016" cy="128016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166360" y="2286000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AI capacity building</a:t>
            </a:r>
            <a:endParaRPr lang="en-US" sz="90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523744"/>
            <a:ext cx="128016" cy="128016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166360" y="2496312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E-governance automation</a:t>
            </a:r>
            <a:endParaRPr lang="en-US" sz="900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734056"/>
            <a:ext cx="128016" cy="128016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5166360" y="2706624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AI applications</a:t>
            </a:r>
            <a:endParaRPr lang="en-US" sz="900" dirty="0"/>
          </a:p>
        </p:txBody>
      </p:sp>
      <p:sp>
        <p:nvSpPr>
          <p:cNvPr id="31" name="Shape 18"/>
          <p:cNvSpPr/>
          <p:nvPr/>
        </p:nvSpPr>
        <p:spPr>
          <a:xfrm>
            <a:off x="457200" y="3200400"/>
            <a:ext cx="4023360" cy="1508760"/>
          </a:xfrm>
          <a:prstGeom prst="rect">
            <a:avLst/>
          </a:prstGeom>
          <a:solidFill>
            <a:srgbClr val="1F2937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19"/>
          <p:cNvSpPr/>
          <p:nvPr/>
        </p:nvSpPr>
        <p:spPr>
          <a:xfrm>
            <a:off x="457200" y="3200400"/>
            <a:ext cx="54864" cy="1508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20"/>
          <p:cNvSpPr/>
          <p:nvPr/>
        </p:nvSpPr>
        <p:spPr>
          <a:xfrm>
            <a:off x="640080" y="3383280"/>
            <a:ext cx="365760" cy="36576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" y="3447288"/>
            <a:ext cx="237744" cy="237744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1143000" y="33649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IT Services</a:t>
            </a:r>
            <a:endParaRPr lang="en-US" sz="1200" dirty="0"/>
          </a:p>
        </p:txBody>
      </p:sp>
      <p:pic>
        <p:nvPicPr>
          <p:cNvPr id="36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794760"/>
            <a:ext cx="128016" cy="128016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914400" y="376732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development workflows</a:t>
            </a:r>
            <a:endParaRPr lang="en-US" sz="900" dirty="0"/>
          </a:p>
        </p:txBody>
      </p:sp>
      <p:pic>
        <p:nvPicPr>
          <p:cNvPr id="38" name="Image 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005072"/>
            <a:ext cx="128016" cy="128016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914400" y="3977640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&amp; GenAI adoption</a:t>
            </a:r>
            <a:endParaRPr lang="en-US" sz="900" dirty="0"/>
          </a:p>
        </p:txBody>
      </p:sp>
      <p:pic>
        <p:nvPicPr>
          <p:cNvPr id="40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215384"/>
            <a:ext cx="128016" cy="128016"/>
          </a:xfrm>
          <a:prstGeom prst="rect">
            <a:avLst/>
          </a:prstGeom>
        </p:spPr>
      </p:pic>
      <p:sp>
        <p:nvSpPr>
          <p:cNvPr id="41" name="Text 24"/>
          <p:cNvSpPr/>
          <p:nvPr/>
        </p:nvSpPr>
        <p:spPr>
          <a:xfrm>
            <a:off x="914400" y="4187952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&amp; production AI</a:t>
            </a:r>
            <a:endParaRPr lang="en-US" sz="900" dirty="0"/>
          </a:p>
        </p:txBody>
      </p:sp>
      <p:pic>
        <p:nvPicPr>
          <p:cNvPr id="42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425696"/>
            <a:ext cx="128016" cy="128016"/>
          </a:xfrm>
          <a:prstGeom prst="rect">
            <a:avLst/>
          </a:prstGeom>
        </p:spPr>
      </p:pic>
      <p:sp>
        <p:nvSpPr>
          <p:cNvPr id="43" name="Text 25"/>
          <p:cNvSpPr/>
          <p:nvPr/>
        </p:nvSpPr>
        <p:spPr>
          <a:xfrm>
            <a:off x="914400" y="4398264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testing &amp; quality assurance</a:t>
            </a:r>
            <a:endParaRPr lang="en-US" sz="900" dirty="0"/>
          </a:p>
        </p:txBody>
      </p:sp>
      <p:sp>
        <p:nvSpPr>
          <p:cNvPr id="44" name="Shape 26"/>
          <p:cNvSpPr/>
          <p:nvPr/>
        </p:nvSpPr>
        <p:spPr>
          <a:xfrm>
            <a:off x="4709160" y="3200400"/>
            <a:ext cx="4023360" cy="1508760"/>
          </a:xfrm>
          <a:prstGeom prst="rect">
            <a:avLst/>
          </a:prstGeom>
          <a:solidFill>
            <a:srgbClr val="1F2937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27"/>
          <p:cNvSpPr/>
          <p:nvPr/>
        </p:nvSpPr>
        <p:spPr>
          <a:xfrm>
            <a:off x="4709160" y="3200400"/>
            <a:ext cx="54864" cy="1508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28"/>
          <p:cNvSpPr/>
          <p:nvPr/>
        </p:nvSpPr>
        <p:spPr>
          <a:xfrm>
            <a:off x="4892040" y="3383280"/>
            <a:ext cx="365760" cy="365760"/>
          </a:xfrm>
          <a:prstGeom prst="lin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7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6048" y="3447288"/>
            <a:ext cx="237744" cy="237744"/>
          </a:xfrm>
          <a:prstGeom prst="rect">
            <a:avLst/>
          </a:prstGeom>
        </p:spPr>
      </p:pic>
      <p:sp>
        <p:nvSpPr>
          <p:cNvPr id="48" name="Text 29"/>
          <p:cNvSpPr/>
          <p:nvPr/>
        </p:nvSpPr>
        <p:spPr>
          <a:xfrm>
            <a:off x="5394960" y="33649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Energy, Healthcare &amp; Education</a:t>
            </a:r>
            <a:endParaRPr lang="en-US" sz="1200" dirty="0"/>
          </a:p>
        </p:txBody>
      </p:sp>
      <p:pic>
        <p:nvPicPr>
          <p:cNvPr id="49" name="Image 1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794760"/>
            <a:ext cx="128016" cy="128016"/>
          </a:xfrm>
          <a:prstGeom prst="rect">
            <a:avLst/>
          </a:prstGeom>
        </p:spPr>
      </p:pic>
      <p:sp>
        <p:nvSpPr>
          <p:cNvPr id="50" name="Text 30"/>
          <p:cNvSpPr/>
          <p:nvPr/>
        </p:nvSpPr>
        <p:spPr>
          <a:xfrm>
            <a:off x="5166360" y="376732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AI</a:t>
            </a:r>
            <a:endParaRPr lang="en-US" sz="900" dirty="0"/>
          </a:p>
        </p:txBody>
      </p:sp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4005072"/>
            <a:ext cx="128016" cy="128016"/>
          </a:xfrm>
          <a:prstGeom prst="rect">
            <a:avLst/>
          </a:prstGeom>
        </p:spPr>
      </p:pic>
      <p:sp>
        <p:nvSpPr>
          <p:cNvPr id="52" name="Text 31"/>
          <p:cNvSpPr/>
          <p:nvPr/>
        </p:nvSpPr>
        <p:spPr>
          <a:xfrm>
            <a:off x="5166360" y="3977640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decision support</a:t>
            </a:r>
            <a:endParaRPr lang="en-US" sz="900" dirty="0"/>
          </a:p>
        </p:txBody>
      </p:sp>
      <p:pic>
        <p:nvPicPr>
          <p:cNvPr id="53" name="Image 1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4215384"/>
            <a:ext cx="128016" cy="128016"/>
          </a:xfrm>
          <a:prstGeom prst="rect">
            <a:avLst/>
          </a:prstGeom>
        </p:spPr>
      </p:pic>
      <p:sp>
        <p:nvSpPr>
          <p:cNvPr id="54" name="Text 32"/>
          <p:cNvSpPr/>
          <p:nvPr/>
        </p:nvSpPr>
        <p:spPr>
          <a:xfrm>
            <a:off x="5166360" y="4187952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curriculum design</a:t>
            </a:r>
            <a:endParaRPr lang="en-US" sz="900" dirty="0"/>
          </a:p>
        </p:txBody>
      </p:sp>
      <p:pic>
        <p:nvPicPr>
          <p:cNvPr id="55" name="Image 2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4425696"/>
            <a:ext cx="128016" cy="128016"/>
          </a:xfrm>
          <a:prstGeom prst="rect">
            <a:avLst/>
          </a:prstGeom>
        </p:spPr>
      </p:pic>
      <p:sp>
        <p:nvSpPr>
          <p:cNvPr id="56" name="Text 33"/>
          <p:cNvSpPr/>
          <p:nvPr/>
        </p:nvSpPr>
        <p:spPr>
          <a:xfrm>
            <a:off x="5166360" y="4398264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innovation labs</a:t>
            </a:r>
            <a:endParaRPr lang="en-US" sz="900" dirty="0"/>
          </a:p>
        </p:txBody>
      </p:sp>
      <p:sp>
        <p:nvSpPr>
          <p:cNvPr id="57" name="Text 3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www.gennoor.com  ·  enquiry@gennoor.com  ·  +91 9326 352 241</a:t>
            </a:r>
            <a:endParaRPr lang="en-US" sz="800" dirty="0"/>
          </a:p>
        </p:txBody>
      </p:sp>
      <p:sp>
        <p:nvSpPr>
          <p:cNvPr id="58" name="Text 35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82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Gennoor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</a:t>
            </a: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1965960" cy="1097280"/>
          </a:xfrm>
          <a:prstGeom prst="rect">
            <a:avLst/>
          </a:prstGeom>
          <a:solidFill>
            <a:srgbClr val="2563E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57200" y="13258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57200" y="18745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</a:t>
            </a:r>
            <a:endParaRPr lang="en-US" sz="9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606040" y="1280160"/>
            <a:ext cx="1965960" cy="109728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606040" y="13258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2606040" y="18745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9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54880" y="1280160"/>
            <a:ext cx="1965960" cy="1097280"/>
          </a:xfrm>
          <a:prstGeom prst="rect">
            <a:avLst/>
          </a:prstGeom>
          <a:solidFill>
            <a:srgbClr val="2563E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754880" y="13258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14+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4754880" y="18745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</a:t>
            </a:r>
            <a:endParaRPr lang="en-US" sz="9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903720" y="1280160"/>
            <a:ext cx="1965960" cy="109728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903720" y="13258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16+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6903720" y="18745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9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Clients &amp; Engagements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3017520"/>
            <a:ext cx="196596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57200" y="30175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606040" y="3017520"/>
            <a:ext cx="196596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2606040" y="30175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754880" y="3017520"/>
            <a:ext cx="196596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754880" y="30175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903720" y="3017520"/>
            <a:ext cx="196596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903720" y="30175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" y="3474720"/>
            <a:ext cx="196596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457200" y="3474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Aramco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606040" y="3474720"/>
            <a:ext cx="196596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2606040" y="3474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Bank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754880" y="3474720"/>
            <a:ext cx="196596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4754880" y="3474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MCIT Saudi Arabia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903720" y="3474720"/>
            <a:ext cx="196596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6903720" y="3474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Mahindra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Regions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457200" y="4297680"/>
            <a:ext cx="19659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4"/>
          <p:cNvSpPr/>
          <p:nvPr/>
        </p:nvSpPr>
        <p:spPr>
          <a:xfrm>
            <a:off x="457200" y="4297680"/>
            <a:ext cx="196596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548640" y="435254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548640" y="452628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Arabia, UAE, Bahrain, Qatar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2606040" y="4297680"/>
            <a:ext cx="19659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8"/>
          <p:cNvSpPr/>
          <p:nvPr/>
        </p:nvSpPr>
        <p:spPr>
          <a:xfrm>
            <a:off x="2606040" y="4297680"/>
            <a:ext cx="196596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2697480" y="435254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2697480" y="452628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Tanzania, Kenya, South Africa</a:t>
            </a:r>
            <a:endParaRPr lang="en-US" sz="700" dirty="0"/>
          </a:p>
        </p:txBody>
      </p:sp>
      <p:sp>
        <p:nvSpPr>
          <p:cNvPr id="44" name="Shape 41"/>
          <p:cNvSpPr/>
          <p:nvPr/>
        </p:nvSpPr>
        <p:spPr>
          <a:xfrm>
            <a:off x="4754880" y="4297680"/>
            <a:ext cx="19659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2"/>
          <p:cNvSpPr/>
          <p:nvPr/>
        </p:nvSpPr>
        <p:spPr>
          <a:xfrm>
            <a:off x="4754880" y="4297680"/>
            <a:ext cx="196596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/>
          <p:nvPr/>
        </p:nvSpPr>
        <p:spPr>
          <a:xfrm>
            <a:off x="4846320" y="435254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4846320" y="452628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Pan-India enterprise training</a:t>
            </a:r>
            <a:endParaRPr lang="en-US" sz="700" dirty="0"/>
          </a:p>
        </p:txBody>
      </p:sp>
      <p:sp>
        <p:nvSpPr>
          <p:cNvPr id="48" name="Shape 45"/>
          <p:cNvSpPr/>
          <p:nvPr/>
        </p:nvSpPr>
        <p:spPr>
          <a:xfrm>
            <a:off x="6903720" y="4297680"/>
            <a:ext cx="19659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Shape 46"/>
          <p:cNvSpPr/>
          <p:nvPr/>
        </p:nvSpPr>
        <p:spPr>
          <a:xfrm>
            <a:off x="6903720" y="4297680"/>
            <a:ext cx="196596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7"/>
          <p:cNvSpPr/>
          <p:nvPr/>
        </p:nvSpPr>
        <p:spPr>
          <a:xfrm>
            <a:off x="6995160" y="435254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&amp; UK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6995160" y="452628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virtual &amp; on-site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www.gennoor.com  ·  enquiry@gennoor.com  ·  +91 9326 352 241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82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Gennoor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</a:t>
            </a: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delivery options designed to fit your organization's requirements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508760"/>
            <a:ext cx="2697480" cy="2880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57200" y="1508760"/>
            <a:ext cx="54864" cy="28803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640080" y="1691640"/>
            <a:ext cx="457200" cy="45720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7830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2240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Training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2514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Instructor-led training at your office. Fully customized content, schedule, and focus areas. Ideal for teams of 10-30.</a:t>
            </a:r>
            <a:endParaRPr lang="en-US" sz="8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246120"/>
            <a:ext cx="137160" cy="1371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8680" y="32186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content for your industry</a:t>
            </a:r>
            <a:endParaRPr lang="en-US" sz="8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520440"/>
            <a:ext cx="137160" cy="1371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8680" y="34930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labs in your environment</a:t>
            </a:r>
            <a:endParaRPr lang="en-US" sz="8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794760"/>
            <a:ext cx="137160" cy="1371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68680" y="37673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Team-building through collaboration</a:t>
            </a:r>
            <a:endParaRPr lang="en-US" sz="800" dirty="0"/>
          </a:p>
        </p:txBody>
      </p:sp>
      <p:sp>
        <p:nvSpPr>
          <p:cNvPr id="19" name="Shape 12"/>
          <p:cNvSpPr/>
          <p:nvPr/>
        </p:nvSpPr>
        <p:spPr>
          <a:xfrm>
            <a:off x="3337560" y="1508760"/>
            <a:ext cx="2697480" cy="2880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3"/>
          <p:cNvSpPr/>
          <p:nvPr/>
        </p:nvSpPr>
        <p:spPr>
          <a:xfrm>
            <a:off x="3337560" y="1508760"/>
            <a:ext cx="54864" cy="2880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4"/>
          <p:cNvSpPr/>
          <p:nvPr/>
        </p:nvSpPr>
        <p:spPr>
          <a:xfrm>
            <a:off x="3520440" y="1691640"/>
            <a:ext cx="457200" cy="457200"/>
          </a:xfrm>
          <a:prstGeom prst="lin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1880" y="1783080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520440" y="2240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Live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3520440" y="2514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online delivery via Teams or Zoom. Same depth as on-site with screen sharing, breakout rooms, and live labs.</a:t>
            </a:r>
            <a:endParaRPr lang="en-US" sz="85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246120"/>
            <a:ext cx="137160" cy="13716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3749040" y="32186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 time zones</a:t>
            </a:r>
            <a:endParaRPr lang="en-US" sz="8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520440"/>
            <a:ext cx="137160" cy="13716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749040" y="34930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available for replay</a:t>
            </a:r>
            <a:endParaRPr lang="en-US" sz="8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794760"/>
            <a:ext cx="137160" cy="13716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3749040" y="37673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logistics cost</a:t>
            </a:r>
            <a:endParaRPr lang="en-US" sz="800" dirty="0"/>
          </a:p>
        </p:txBody>
      </p:sp>
      <p:sp>
        <p:nvSpPr>
          <p:cNvPr id="31" name="Shape 20"/>
          <p:cNvSpPr/>
          <p:nvPr/>
        </p:nvSpPr>
        <p:spPr>
          <a:xfrm>
            <a:off x="6217920" y="1508760"/>
            <a:ext cx="2697480" cy="2880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1"/>
          <p:cNvSpPr/>
          <p:nvPr/>
        </p:nvSpPr>
        <p:spPr>
          <a:xfrm>
            <a:off x="6217920" y="1508760"/>
            <a:ext cx="54864" cy="28803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22"/>
          <p:cNvSpPr/>
          <p:nvPr/>
        </p:nvSpPr>
        <p:spPr>
          <a:xfrm>
            <a:off x="6400800" y="1691640"/>
            <a:ext cx="457200" cy="45720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1783080"/>
            <a:ext cx="274320" cy="27432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6400800" y="2240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Training</a:t>
            </a:r>
            <a:endParaRPr lang="en-US" sz="1300" dirty="0"/>
          </a:p>
        </p:txBody>
      </p:sp>
      <p:sp>
        <p:nvSpPr>
          <p:cNvPr id="36" name="Text 24"/>
          <p:cNvSpPr/>
          <p:nvPr/>
        </p:nvSpPr>
        <p:spPr>
          <a:xfrm>
            <a:off x="6400800" y="2514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through MCT platforms — 365 Talent Portal and GoDeploy — for Microsoft Official Curriculum delivery.</a:t>
            </a:r>
            <a:endParaRPr lang="en-US" sz="85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246120"/>
            <a:ext cx="137160" cy="137160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6629400" y="32186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Microsoft-authorized courseware</a:t>
            </a:r>
            <a:endParaRPr lang="en-US" sz="8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520440"/>
            <a:ext cx="137160" cy="137160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6629400" y="34930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MCT-credentialed delivery</a:t>
            </a:r>
            <a:endParaRPr lang="en-US" sz="80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794760"/>
            <a:ext cx="137160" cy="137160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6629400" y="37673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completion certificates</a:t>
            </a:r>
            <a:endParaRPr lang="en-US" sz="800" dirty="0"/>
          </a:p>
        </p:txBody>
      </p:sp>
      <p:sp>
        <p:nvSpPr>
          <p:cNvPr id="43" name="Text 2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www.gennoor.com  ·  enquiry@gennoor.com  ·  +91 9326 352 241</a:t>
            </a:r>
            <a:endParaRPr lang="en-US" sz="800" dirty="0"/>
          </a:p>
        </p:txBody>
      </p:sp>
      <p:sp>
        <p:nvSpPr>
          <p:cNvPr id="44" name="Text 29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line">
            <a:avLst/>
          </a:prstGeom>
          <a:solidFill>
            <a:srgbClr val="2563EB">
              <a:alpha val="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86400" y="1828800"/>
            <a:ext cx="7315200" cy="7315200"/>
          </a:xfrm>
          <a:prstGeom prst="line">
            <a:avLst/>
          </a:prstGeom>
          <a:solidFill>
            <a:srgbClr val="F59E0B">
              <a:alpha val="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432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320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Gennoor</a:t>
            </a:r>
            <a:r>
              <a:rPr lang="en-US" sz="1800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126187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Your</a:t>
            </a:r>
            <a:r>
              <a:rPr lang="en-US" sz="3000" dirty="0"/>
              <a:t> 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Team's 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Capability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749808" y="2423160"/>
            <a:ext cx="73152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40080" y="2863571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you need a 2-day executive session or a 5-day deep-dive bootcamp, we design a program that fits your team's goals, timeline, and industry context.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3640811"/>
            <a:ext cx="365760" cy="36576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40080" y="3640811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97280" y="3595091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Call</a:t>
            </a:r>
            <a:endParaRPr lang="en-US" sz="8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120" y="3218688"/>
            <a:ext cx="146304" cy="14630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331720" y="3154680"/>
            <a:ext cx="365760" cy="36576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2240280" y="3640811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697480" y="3595091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Design Your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Program</a:t>
            </a:r>
            <a:endParaRPr lang="en-US" sz="8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3218688"/>
            <a:ext cx="146304" cy="146304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931920" y="3154680"/>
            <a:ext cx="365760" cy="365760"/>
          </a:xfrm>
          <a:prstGeom prst="lin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/>
          <p:nvPr/>
        </p:nvSpPr>
        <p:spPr>
          <a:xfrm>
            <a:off x="3840480" y="3640811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297680" y="3595091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&amp;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669280" y="1097280"/>
            <a:ext cx="3108960" cy="3383280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5669280" y="1097280"/>
            <a:ext cx="310896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/>
          <p:nvPr/>
        </p:nvSpPr>
        <p:spPr>
          <a:xfrm>
            <a:off x="594360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594360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🌐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309360" y="17647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6309360" y="19110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www.gennoor.com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5943600" y="2258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✉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309360" y="22402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700" dirty="0"/>
          </a:p>
        </p:txBody>
      </p:sp>
      <p:sp>
        <p:nvSpPr>
          <p:cNvPr id="28" name="Text 23"/>
          <p:cNvSpPr/>
          <p:nvPr/>
        </p:nvSpPr>
        <p:spPr>
          <a:xfrm>
            <a:off x="6309360" y="23865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enquiry@gennoor.com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5943600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📱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309360" y="271576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700" dirty="0"/>
          </a:p>
        </p:txBody>
      </p:sp>
      <p:sp>
        <p:nvSpPr>
          <p:cNvPr id="31" name="Text 26"/>
          <p:cNvSpPr/>
          <p:nvPr/>
        </p:nvSpPr>
        <p:spPr>
          <a:xfrm>
            <a:off x="6309360" y="2862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+91 9326 352 241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943600" y="3209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🔗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6309360" y="319125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700" dirty="0"/>
          </a:p>
        </p:txBody>
      </p:sp>
      <p:sp>
        <p:nvSpPr>
          <p:cNvPr id="34" name="Text 29"/>
          <p:cNvSpPr/>
          <p:nvPr/>
        </p:nvSpPr>
        <p:spPr>
          <a:xfrm>
            <a:off x="6309360" y="3337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linkedin.com/company/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gennoor-tech-private-limited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5943600" y="3685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▶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6309360" y="366674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700" dirty="0"/>
          </a:p>
        </p:txBody>
      </p:sp>
      <p:sp>
        <p:nvSpPr>
          <p:cNvPr id="37" name="Text 32"/>
          <p:cNvSpPr/>
          <p:nvPr/>
        </p:nvSpPr>
        <p:spPr>
          <a:xfrm>
            <a:off x="6309360" y="3813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@GennoorTech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731520" y="4663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 INNOVATE. BUILD.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efa4170-0d19-0005-0004-bc88714345d2}" enabled="1" method="Standard" siteId="{2243f965-7483-47b5-8481-26f2d02b5c3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995</Words>
  <Application>Microsoft Office PowerPoint</Application>
  <PresentationFormat>On-screen Show (16:9)</PresentationFormat>
  <Paragraphs>238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Gennoor Tech — AI &amp; Cloud Training Partner</dc:title>
  <dc:subject>PptxGenJS Presentation</dc:subject>
  <dc:creator>Gennoor Tech Private Limited</dc:creator>
  <cp:lastModifiedBy>Jalal Khan</cp:lastModifiedBy>
  <cp:revision>2</cp:revision>
  <dcterms:created xsi:type="dcterms:W3CDTF">2026-03-16T11:47:08Z</dcterms:created>
  <dcterms:modified xsi:type="dcterms:W3CDTF">2026-03-20T00:46:25Z</dcterms:modified>
</cp:coreProperties>
</file>