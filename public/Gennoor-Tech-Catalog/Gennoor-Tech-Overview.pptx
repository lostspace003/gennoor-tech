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noor-tech-logo-stacked-dark_1120x880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777240"/>
            <a:ext cx="3549535" cy="2788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977639"/>
            <a:ext cx="10360152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Segoe UI"/>
              </a:rPr>
              <a:t>Enterprise AI — </a:t>
            </a:r>
            <a:r>
              <a:rPr sz="1800" b="1">
                <a:solidFill>
                  <a:srgbClr val="FFFFFF"/>
                </a:solidFill>
                <a:latin typeface="Segoe UI"/>
              </a:rPr>
              <a:t>train</a:t>
            </a:r>
            <a:r>
              <a:rPr sz="1800" b="0">
                <a:solidFill>
                  <a:srgbClr val="64748B"/>
                </a:solidFill>
                <a:latin typeface="Segoe UI"/>
              </a:rPr>
              <a:t> · </a:t>
            </a:r>
            <a:r>
              <a:rPr sz="1800" b="1">
                <a:solidFill>
                  <a:srgbClr val="FFFFFF"/>
                </a:solidFill>
                <a:latin typeface="Segoe UI"/>
              </a:rPr>
              <a:t>innovate</a:t>
            </a:r>
            <a:r>
              <a:rPr sz="1800" b="0">
                <a:solidFill>
                  <a:srgbClr val="64748B"/>
                </a:solidFill>
                <a:latin typeface="Segoe UI"/>
              </a:rPr>
              <a:t> · </a:t>
            </a:r>
            <a:r>
              <a:rPr sz="1800" b="1">
                <a:solidFill>
                  <a:srgbClr val="FFFFFF"/>
                </a:solidFill>
                <a:latin typeface="Segoe UI"/>
              </a:rPr>
              <a:t>build</a:t>
            </a:r>
            <a:r>
              <a:rPr sz="1800" b="0">
                <a:solidFill>
                  <a:srgbClr val="CBD5E1"/>
                </a:solidFill>
                <a:latin typeface="Segoe UI"/>
              </a:rPr>
              <a:t> what your team owns.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7" y="5120640"/>
            <a:ext cx="3200400" cy="640080"/>
          </a:xfrm>
          <a:prstGeom prst="rect">
            <a:avLst/>
          </a:prstGeom>
          <a:solidFill>
            <a:srgbClr val="15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5120640"/>
            <a:ext cx="320040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500" b="1">
                <a:solidFill>
                  <a:srgbClr val="93B4FF"/>
                </a:solidFill>
                <a:latin typeface="Segoe UI"/>
              </a:rPr>
              <a:t>✉  </a:t>
            </a:r>
            <a:r>
              <a:rPr sz="1350" b="1">
                <a:solidFill>
                  <a:srgbClr val="FFFFFF"/>
                </a:solidFill>
                <a:latin typeface="Segoe UI"/>
              </a:rPr>
              <a:t>admin@gennoor.com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5647" y="5120640"/>
            <a:ext cx="3200400" cy="640080"/>
          </a:xfrm>
          <a:prstGeom prst="rect">
            <a:avLst/>
          </a:prstGeom>
          <a:solidFill>
            <a:srgbClr val="15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647" y="5120640"/>
            <a:ext cx="320040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500" b="1">
                <a:solidFill>
                  <a:srgbClr val="93B4FF"/>
                </a:solidFill>
                <a:latin typeface="Segoe UI"/>
              </a:rPr>
              <a:t>☎  </a:t>
            </a:r>
            <a:r>
              <a:rPr sz="1350" b="1">
                <a:solidFill>
                  <a:srgbClr val="FFFFFF"/>
                </a:solidFill>
                <a:latin typeface="Segoe UI"/>
              </a:rPr>
              <a:t>+91 9326352241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647" y="5120640"/>
            <a:ext cx="3200400" cy="640080"/>
          </a:xfrm>
          <a:prstGeom prst="rect">
            <a:avLst/>
          </a:prstGeom>
          <a:solidFill>
            <a:srgbClr val="15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647" y="5120640"/>
            <a:ext cx="320040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500" b="1">
                <a:solidFill>
                  <a:srgbClr val="93B4FF"/>
                </a:solidFill>
                <a:latin typeface="Segoe UI"/>
              </a:rPr>
              <a:t>🌐  </a:t>
            </a:r>
            <a:r>
              <a:rPr sz="1350" b="1">
                <a:solidFill>
                  <a:srgbClr val="FFFFFF"/>
                </a:solidFill>
                <a:latin typeface="Segoe UI"/>
              </a:rPr>
              <a:t>www.gennoor.com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Segoe UI"/>
              </a:rPr>
              <a:t>Delivered by Jalal Ahmed Khan — Microsoft Certified Trainer, Founder &amp; Principal AI Consultant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Segoe UI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2D3748"/>
                </a:solidFill>
                <a:latin typeface="Segoe UI"/>
              </a:rPr>
              <a:t>One partner across the whole AI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transparent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828800"/>
            <a:ext cx="2014057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014057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0764" y="2112264"/>
            <a:ext cx="749808" cy="749808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0764" y="2112264"/>
            <a:ext cx="749808" cy="7498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2014057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800" b="1">
                <a:solidFill>
                  <a:srgbClr val="2563EB"/>
                </a:solidFill>
                <a:latin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2014057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4A5568"/>
                </a:solidFill>
                <a:latin typeface="Segoe UI"/>
              </a:rPr>
              <a:t>Service lines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8729" y="1828800"/>
            <a:ext cx="2014057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8729" y="1828800"/>
            <a:ext cx="2014057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50854" y="2112264"/>
            <a:ext cx="749808" cy="749808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0854" y="2112264"/>
            <a:ext cx="749808" cy="7498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8729" y="2971800"/>
            <a:ext cx="2014057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800" b="1">
                <a:solidFill>
                  <a:srgbClr val="2563EB"/>
                </a:solidFill>
                <a:latin typeface="Segoe UI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8729" y="3611880"/>
            <a:ext cx="2014057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4A5568"/>
                </a:solidFill>
                <a:latin typeface="Segoe UI"/>
              </a:rPr>
              <a:t>Training programs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8818" y="1828800"/>
            <a:ext cx="2014057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8818" y="1828800"/>
            <a:ext cx="201405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0943" y="2112264"/>
            <a:ext cx="749808" cy="749808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0943" y="2112264"/>
            <a:ext cx="749808" cy="7498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18" y="2971800"/>
            <a:ext cx="2014057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800" b="1">
                <a:solidFill>
                  <a:srgbClr val="2563EB"/>
                </a:solidFill>
                <a:latin typeface="Segoe U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8818" y="3611880"/>
            <a:ext cx="2014057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4A5568"/>
                </a:solidFill>
                <a:latin typeface="Segoe UI"/>
              </a:rPr>
              <a:t>Free courses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58908" y="1828800"/>
            <a:ext cx="2014057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8908" y="1828800"/>
            <a:ext cx="2014057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91032" y="2112264"/>
            <a:ext cx="749808" cy="749808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032" y="2112264"/>
            <a:ext cx="749808" cy="7498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8908" y="2971800"/>
            <a:ext cx="2014057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800" b="1">
                <a:solidFill>
                  <a:srgbClr val="2563EB"/>
                </a:solidFill>
                <a:latin typeface="Segoe UI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8908" y="3611880"/>
            <a:ext cx="2014057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4A5568"/>
                </a:solidFill>
                <a:latin typeface="Segoe UI"/>
              </a:rPr>
              <a:t>PoC blueprints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28997" y="1828800"/>
            <a:ext cx="2014057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8997" y="1828800"/>
            <a:ext cx="2014057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61122" y="2112264"/>
            <a:ext cx="749808" cy="749808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61122" y="2112264"/>
            <a:ext cx="749808" cy="74980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997" y="2971800"/>
            <a:ext cx="2014057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800" b="1">
                <a:solidFill>
                  <a:srgbClr val="2563EB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997" y="3611880"/>
            <a:ext cx="2014057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4A5568"/>
                </a:solidFill>
                <a:latin typeface="Segoe UI"/>
              </a:rPr>
              <a:t>Case studies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26280"/>
            <a:ext cx="11094415" cy="1280160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800600"/>
            <a:ext cx="822960" cy="731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4709160"/>
            <a:ext cx="9509760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Segoe UI"/>
              </a:rPr>
              <a:t>Global delivery.  </a:t>
            </a:r>
            <a:r>
              <a:rPr sz="1500" b="0">
                <a:solidFill>
                  <a:srgbClr val="FFFFFF"/>
                </a:solidFill>
                <a:latin typeface="Segoe UI"/>
              </a:rPr>
              <a:t>On-site in India &amp; Saudi Arabia (Vision 2030 aligned) or live-remote worldwide.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Live, customized, hands-on — never generic.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Segoe UI"/>
              </a:rPr>
              <a:t>WHAT WE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2D3748"/>
                </a:solidFill>
                <a:latin typeface="Segoe UI"/>
              </a:rPr>
              <a:t>Five ways we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transparent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3515258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822960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  <a:latin typeface="Segoe UI"/>
              </a:rPr>
              <a:t>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783080"/>
            <a:ext cx="2143658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2D3748"/>
                </a:solidFill>
                <a:latin typeface="Segoe UI"/>
              </a:rPr>
              <a:t>AI Strategy &amp; 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3058058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Readiness, roadmaps, ROI, governance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463040"/>
            <a:ext cx="3515258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46304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2538" y="1691640"/>
            <a:ext cx="822960" cy="8229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538" y="1691640"/>
            <a:ext cx="822960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  <a:latin typeface="Segoe UI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2658" y="1783080"/>
            <a:ext cx="2143658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2D3748"/>
                </a:solidFill>
                <a:latin typeface="Segoe UI"/>
              </a:rPr>
              <a:t>Corporate AI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538" y="2697480"/>
            <a:ext cx="3058058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Executive + technical, live &amp; customized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463040"/>
            <a:ext cx="3515258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1463040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02116" y="1691640"/>
            <a:ext cx="822960" cy="82296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2116" y="1691640"/>
            <a:ext cx="822960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  <a:latin typeface="Segoe UI"/>
              </a:rPr>
              <a:t>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2236" y="1783080"/>
            <a:ext cx="2143658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2D3748"/>
                </a:solidFill>
                <a:latin typeface="Segoe UI"/>
              </a:rPr>
              <a:t>PoC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2116" y="2697480"/>
            <a:ext cx="3058058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Working prototypes in 2–6 weeks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66160"/>
            <a:ext cx="3515258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3794760"/>
            <a:ext cx="822960" cy="82296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94760"/>
            <a:ext cx="822960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  <a:latin typeface="Segoe UI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886200"/>
            <a:ext cx="2143658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2D3748"/>
                </a:solidFill>
                <a:latin typeface="Segoe UI"/>
              </a:rPr>
              <a:t>Agentic AI Solutions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00600"/>
            <a:ext cx="3058058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Multi-agent systems that 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8218" y="3566160"/>
            <a:ext cx="3515258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38218" y="356616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12538" y="3794760"/>
            <a:ext cx="822960" cy="8229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2538" y="3794760"/>
            <a:ext cx="822960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  <a:latin typeface="Segoe UI"/>
              </a:rPr>
              <a:t>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2658" y="3886200"/>
            <a:ext cx="2143658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2D3748"/>
                </a:solidFill>
                <a:latin typeface="Segoe UI"/>
              </a:rPr>
              <a:t>Certification Preparation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2538" y="4800600"/>
            <a:ext cx="3058058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Azure AI, Power BI, Copilot, GitHub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7796" y="3566160"/>
            <a:ext cx="3515258" cy="1828800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02116" y="3794760"/>
            <a:ext cx="822960" cy="82296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2116" y="3794760"/>
            <a:ext cx="822960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400" b="0">
                <a:solidFill>
                  <a:srgbClr val="2D3748"/>
                </a:solidFill>
                <a:latin typeface="Segoe UI"/>
              </a:rPr>
              <a:t>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2236" y="3886200"/>
            <a:ext cx="2143658" cy="8229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Not sure where
to start?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2116" y="4800600"/>
            <a:ext cx="3058058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Segoe UI"/>
              </a:rPr>
              <a:t>One short discovery call — we'll map the right entry point.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93B4FF"/>
                </a:solidFill>
                <a:latin typeface="Segoe UI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Segoe UI"/>
              </a:rPr>
              <a:t>The Gennoor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dark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737360"/>
            <a:ext cx="2094524" cy="3931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09452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7262" y="2011680"/>
            <a:ext cx="914400" cy="91440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262" y="2011680"/>
            <a:ext cx="914400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600" b="0">
                <a:solidFill>
                  <a:srgbClr val="2D3748"/>
                </a:solidFill>
                <a:latin typeface="Segoe UI"/>
              </a:rPr>
              <a:t>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2094524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00" b="1">
                <a:solidFill>
                  <a:srgbClr val="93B4FF"/>
                </a:solidFill>
                <a:latin typeface="Segoe UI"/>
              </a:rPr>
              <a:t>PHASE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2094524" cy="4114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1911644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Know where you 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209452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1–4 weeks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2892" y="1737360"/>
            <a:ext cx="2094524" cy="3931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2892" y="1737360"/>
            <a:ext cx="209452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42954" y="2011680"/>
            <a:ext cx="914400" cy="91440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2954" y="2011680"/>
            <a:ext cx="914400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600" b="0">
                <a:solidFill>
                  <a:srgbClr val="2D3748"/>
                </a:solidFill>
                <a:latin typeface="Segoe UI"/>
              </a:rP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2892" y="3063240"/>
            <a:ext cx="2094524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00" b="1">
                <a:solidFill>
                  <a:srgbClr val="93B4FF"/>
                </a:solidFill>
                <a:latin typeface="Segoe UI"/>
              </a:rPr>
              <a:t>PHASE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2892" y="3364992"/>
            <a:ext cx="2094524" cy="4114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4332" y="3886200"/>
            <a:ext cx="1911644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Raise AI literacy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2892" y="5166360"/>
            <a:ext cx="209452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2–8 weeks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8585" y="1737360"/>
            <a:ext cx="2094524" cy="3931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48585" y="1737360"/>
            <a:ext cx="209452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8647" y="2011680"/>
            <a:ext cx="914400" cy="91440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8647" y="2011680"/>
            <a:ext cx="914400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600" b="0">
                <a:solidFill>
                  <a:srgbClr val="2D3748"/>
                </a:solidFill>
                <a:latin typeface="Segoe UI"/>
              </a:rP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8585" y="3063240"/>
            <a:ext cx="2094524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00" b="1">
                <a:solidFill>
                  <a:srgbClr val="93B4FF"/>
                </a:solidFill>
                <a:latin typeface="Segoe UI"/>
              </a:rPr>
              <a:t>PHASE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585" y="3364992"/>
            <a:ext cx="2094524" cy="4114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Innovate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0025" y="3886200"/>
            <a:ext cx="1911644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Ship a working PoC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8585" y="5166360"/>
            <a:ext cx="209452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4–8 weeks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44277" y="1737360"/>
            <a:ext cx="2094524" cy="3931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277" y="1737360"/>
            <a:ext cx="209452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34340" y="2011680"/>
            <a:ext cx="914400" cy="91440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4340" y="2011680"/>
            <a:ext cx="914400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600" b="0">
                <a:solidFill>
                  <a:srgbClr val="2D3748"/>
                </a:solidFill>
                <a:latin typeface="Segoe UI"/>
              </a:rPr>
              <a:t>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4277" y="3063240"/>
            <a:ext cx="2094524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00" b="1">
                <a:solidFill>
                  <a:srgbClr val="93B4FF"/>
                </a:solidFill>
                <a:latin typeface="Segoe UI"/>
              </a:rPr>
              <a:t>PHASE 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4277" y="3364992"/>
            <a:ext cx="2094524" cy="4114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5717" y="3886200"/>
            <a:ext cx="1911644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Scale to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4277" y="5166360"/>
            <a:ext cx="209452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8–20 weeks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9970" y="1737360"/>
            <a:ext cx="2094524" cy="3931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39970" y="1737360"/>
            <a:ext cx="209452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0032" y="2011680"/>
            <a:ext cx="914400" cy="91440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30032" y="2011680"/>
            <a:ext cx="914400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600" b="0">
                <a:solidFill>
                  <a:srgbClr val="2D3748"/>
                </a:solidFill>
                <a:latin typeface="Segoe UI"/>
              </a:rPr>
              <a:t>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9970" y="3063240"/>
            <a:ext cx="2094524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00" b="1">
                <a:solidFill>
                  <a:srgbClr val="93B4FF"/>
                </a:solidFill>
                <a:latin typeface="Segoe UI"/>
              </a:rPr>
              <a:t>PHASE 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9970" y="3364992"/>
            <a:ext cx="2094524" cy="4114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Sustain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1410" y="3886200"/>
            <a:ext cx="1911644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Keep it performant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9970" y="5166360"/>
            <a:ext cx="209452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Quarterly retainer · ongoing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Diagnose  →  Train  →  Innovate  →  Build  →  Sustain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93B4FF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Segoe UI"/>
              </a:rPr>
              <a:t>CORPORATE 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2D3748"/>
                </a:solidFill>
                <a:latin typeface="Segoe UI"/>
              </a:rPr>
              <a:t>Instructor-led, customized to your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transparent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554480"/>
            <a:ext cx="5410047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10047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7260" y="1897380"/>
            <a:ext cx="1051560" cy="105156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" y="1897380"/>
            <a:ext cx="1051560" cy="10515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3000" b="0">
                <a:solidFill>
                  <a:srgbClr val="2D3748"/>
                </a:solidFill>
                <a:latin typeface="Segoe UI"/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11680"/>
            <a:ext cx="3581247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4400" b="1">
                <a:solidFill>
                  <a:srgbClr val="2563EB"/>
                </a:solidFill>
                <a:latin typeface="Segoe UI"/>
              </a:rPr>
              <a:t>14  </a:t>
            </a:r>
          </a:p>
          <a:p>
            <a:pPr algn="l"/>
            <a:r>
              <a:rPr sz="1700" b="1">
                <a:solidFill>
                  <a:srgbClr val="2D3748"/>
                </a:solidFill>
                <a:latin typeface="Segoe UI"/>
              </a:rPr>
              <a:t>Bootcamps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3483863"/>
            <a:ext cx="256032" cy="2560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483863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28999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AI Transformation for Bus…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" y="3959351"/>
            <a:ext cx="256032" cy="2560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959351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04487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GenAI Copilot Mastery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434839"/>
            <a:ext cx="256032" cy="2560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434839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79975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Agentic AI Engineering</a:t>
            </a:r>
          </a:p>
        </p:txBody>
      </p:sp>
      <p:sp>
        <p:nvSpPr>
          <p:cNvPr id="21" name="Oval 20"/>
          <p:cNvSpPr/>
          <p:nvPr/>
        </p:nvSpPr>
        <p:spPr>
          <a:xfrm>
            <a:off x="877824" y="4910327"/>
            <a:ext cx="256032" cy="2560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910327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55463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Data Science &amp; Machine Le…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" y="5385815"/>
            <a:ext cx="256032" cy="2560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385815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30951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Deep Learning &amp; Computer…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24727"/>
            <a:ext cx="4495647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+ 9 more — full list in the Excel catalog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007" y="1554480"/>
            <a:ext cx="5410047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1554480"/>
            <a:ext cx="541004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21627" y="1897380"/>
            <a:ext cx="1051560" cy="105156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1627" y="1897380"/>
            <a:ext cx="1051560" cy="10515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3000" b="0">
                <a:solidFill>
                  <a:srgbClr val="2D3748"/>
                </a:solidFill>
                <a:latin typeface="Segoe UI"/>
              </a:rPr>
              <a:t>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8927" y="2011680"/>
            <a:ext cx="3581247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4400" b="1">
                <a:solidFill>
                  <a:srgbClr val="F59E0B"/>
                </a:solidFill>
                <a:latin typeface="Segoe UI"/>
              </a:rPr>
              <a:t>26  </a:t>
            </a:r>
          </a:p>
          <a:p>
            <a:pPr algn="l"/>
            <a:r>
              <a:rPr sz="1700" b="1">
                <a:solidFill>
                  <a:srgbClr val="2D3748"/>
                </a:solidFill>
                <a:latin typeface="Segoe UI"/>
              </a:rPr>
              <a:t>Courses</a:t>
            </a:r>
          </a:p>
        </p:txBody>
      </p:sp>
      <p:sp>
        <p:nvSpPr>
          <p:cNvPr id="33" name="Oval 32"/>
          <p:cNvSpPr/>
          <p:nvPr/>
        </p:nvSpPr>
        <p:spPr>
          <a:xfrm>
            <a:off x="6562191" y="3483863"/>
            <a:ext cx="256032" cy="256032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2191" y="3483863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4527" y="3428999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AI Transformation for Bus…</a:t>
            </a:r>
          </a:p>
        </p:txBody>
      </p:sp>
      <p:sp>
        <p:nvSpPr>
          <p:cNvPr id="36" name="Oval 35"/>
          <p:cNvSpPr/>
          <p:nvPr/>
        </p:nvSpPr>
        <p:spPr>
          <a:xfrm>
            <a:off x="6562191" y="3959351"/>
            <a:ext cx="256032" cy="256032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2191" y="3959351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4527" y="3904487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Generative AI &amp; Copilot M…</a:t>
            </a:r>
          </a:p>
        </p:txBody>
      </p:sp>
      <p:sp>
        <p:nvSpPr>
          <p:cNvPr id="39" name="Oval 38"/>
          <p:cNvSpPr/>
          <p:nvPr/>
        </p:nvSpPr>
        <p:spPr>
          <a:xfrm>
            <a:off x="6562191" y="4434839"/>
            <a:ext cx="256032" cy="256032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2191" y="4434839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4527" y="4379975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Agentic AI Engineering</a:t>
            </a:r>
          </a:p>
        </p:txBody>
      </p:sp>
      <p:sp>
        <p:nvSpPr>
          <p:cNvPr id="42" name="Oval 41"/>
          <p:cNvSpPr/>
          <p:nvPr/>
        </p:nvSpPr>
        <p:spPr>
          <a:xfrm>
            <a:off x="6562191" y="4910327"/>
            <a:ext cx="256032" cy="256032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2191" y="4910327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4527" y="4855463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Data Science &amp; Machine Le…</a:t>
            </a:r>
          </a:p>
        </p:txBody>
      </p:sp>
      <p:sp>
        <p:nvSpPr>
          <p:cNvPr id="45" name="Oval 44"/>
          <p:cNvSpPr/>
          <p:nvPr/>
        </p:nvSpPr>
        <p:spPr>
          <a:xfrm>
            <a:off x="6562191" y="5385815"/>
            <a:ext cx="256032" cy="256032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2191" y="5385815"/>
            <a:ext cx="256032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Segoe U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4527" y="5330951"/>
            <a:ext cx="4495647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4A5568"/>
                </a:solidFill>
                <a:latin typeface="Segoe UI"/>
              </a:rPr>
              <a:t>Deep Learning &amp; Computer…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4527" y="5824727"/>
            <a:ext cx="4495647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+ 21 more — full list in the Excel catalog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Segoe UI"/>
              </a:rPr>
              <a:t>AI ACADEMY ·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2D3748"/>
                </a:solidFill>
                <a:latin typeface="Segoe UI"/>
              </a:rPr>
              <a:t>A living library your teams can start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transparent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508760"/>
            <a:ext cx="2651760" cy="4297680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19" y="1828800"/>
            <a:ext cx="914400" cy="91440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19" y="1828800"/>
            <a:ext cx="914400" cy="9144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600" b="0">
                <a:solidFill>
                  <a:srgbClr val="2D3748"/>
                </a:solidFill>
                <a:latin typeface="Segoe UI"/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65176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6000" b="1">
                <a:solidFill>
                  <a:srgbClr val="F59E0B"/>
                </a:solidFill>
                <a:latin typeface="Segoe UI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265176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free 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97680"/>
            <a:ext cx="2377440" cy="12801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Segoe UI"/>
              </a:rPr>
              <a:t>Interactive · video · reading
Self-paced · 6 tracks
No cost, ever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508760"/>
            <a:ext cx="255209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508760"/>
            <a:ext cx="255209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4149" y="1746504"/>
            <a:ext cx="713232" cy="7132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4149" y="1746504"/>
            <a:ext cx="713232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60320"/>
            <a:ext cx="255209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Segoe U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44952"/>
            <a:ext cx="255209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50" b="1">
                <a:solidFill>
                  <a:srgbClr val="2D3748"/>
                </a:solidFill>
                <a:latin typeface="Segoe UI"/>
              </a:rPr>
              <a:t>Foundations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2842" y="1508760"/>
            <a:ext cx="255209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2842" y="1508760"/>
            <a:ext cx="255209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02271" y="1746504"/>
            <a:ext cx="713232" cy="7132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2271" y="1746504"/>
            <a:ext cx="713232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2842" y="2560320"/>
            <a:ext cx="255209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Segoe U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2842" y="3044952"/>
            <a:ext cx="255209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50" b="1">
                <a:solidFill>
                  <a:srgbClr val="2D3748"/>
                </a:solidFill>
                <a:latin typeface="Segoe UI"/>
              </a:rPr>
              <a:t>By Function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0964" y="1508760"/>
            <a:ext cx="255209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0964" y="1508760"/>
            <a:ext cx="255209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10393" y="1746504"/>
            <a:ext cx="713232" cy="713232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0393" y="1746504"/>
            <a:ext cx="713232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0964" y="2560320"/>
            <a:ext cx="255209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Segoe U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0964" y="3044952"/>
            <a:ext cx="255209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50" b="1">
                <a:solidFill>
                  <a:srgbClr val="2D3748"/>
                </a:solidFill>
                <a:latin typeface="Segoe UI"/>
              </a:rPr>
              <a:t>Leadership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76472"/>
            <a:ext cx="255209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0" y="3776472"/>
            <a:ext cx="255209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94149" y="4014216"/>
            <a:ext cx="713232" cy="7132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4149" y="4014216"/>
            <a:ext cx="713232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828032"/>
            <a:ext cx="255209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Segoe U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312664"/>
            <a:ext cx="255209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50" b="1">
                <a:solidFill>
                  <a:srgbClr val="2D3748"/>
                </a:solidFill>
                <a:latin typeface="Segoe UI"/>
              </a:rPr>
              <a:t>By Industry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2842" y="3776472"/>
            <a:ext cx="255209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2842" y="3776472"/>
            <a:ext cx="255209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202271" y="4014216"/>
            <a:ext cx="713232" cy="713232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2271" y="4014216"/>
            <a:ext cx="713232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842" y="4828032"/>
            <a:ext cx="255209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Segoe U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2842" y="5312664"/>
            <a:ext cx="255209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50" b="1">
                <a:solidFill>
                  <a:srgbClr val="2D3748"/>
                </a:solidFill>
                <a:latin typeface="Segoe UI"/>
              </a:rPr>
              <a:t>Builder / Tech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0964" y="3776472"/>
            <a:ext cx="255209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0964" y="3776472"/>
            <a:ext cx="255209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10393" y="4014216"/>
            <a:ext cx="713232" cy="713232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10393" y="4014216"/>
            <a:ext cx="713232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0964" y="4828032"/>
            <a:ext cx="255209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Segoe U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0964" y="5312664"/>
            <a:ext cx="255209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50" b="1">
                <a:solidFill>
                  <a:srgbClr val="2D3748"/>
                </a:solidFill>
                <a:latin typeface="Segoe UI"/>
              </a:rPr>
              <a:t>Applied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93B4FF"/>
                </a:solidFill>
                <a:latin typeface="Segoe UI"/>
              </a:rPr>
              <a:t>POC BLUEPRINTS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Segoe UI"/>
              </a:rPr>
              <a:t>Pick one. We ship it in 4–8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dark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828800"/>
            <a:ext cx="2014057" cy="237744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014057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7048" y="2098548"/>
            <a:ext cx="777240" cy="77724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7048" y="2098548"/>
            <a:ext cx="777240" cy="7772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2014057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400" b="1">
                <a:solidFill>
                  <a:srgbClr val="F59E0B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66160"/>
            <a:ext cx="1794601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Documents &amp; Knowledge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8729" y="1828800"/>
            <a:ext cx="2014057" cy="237744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8729" y="1828800"/>
            <a:ext cx="2014057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37138" y="2098548"/>
            <a:ext cx="777240" cy="77724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7138" y="2098548"/>
            <a:ext cx="777240" cy="7772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8729" y="2971800"/>
            <a:ext cx="2014057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400" b="1">
                <a:solidFill>
                  <a:srgbClr val="F59E0B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8457" y="3566160"/>
            <a:ext cx="1794601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8818" y="1828800"/>
            <a:ext cx="2014057" cy="237744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8818" y="1828800"/>
            <a:ext cx="2014057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07227" y="2098548"/>
            <a:ext cx="777240" cy="77724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7227" y="2098548"/>
            <a:ext cx="777240" cy="7772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18" y="2971800"/>
            <a:ext cx="2014057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400" b="1">
                <a:solidFill>
                  <a:srgbClr val="F59E0B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8546" y="3566160"/>
            <a:ext cx="1794601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Industry-Specific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58908" y="1828800"/>
            <a:ext cx="2014057" cy="237744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8908" y="1828800"/>
            <a:ext cx="2014057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77316" y="2098548"/>
            <a:ext cx="777240" cy="77724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7316" y="2098548"/>
            <a:ext cx="777240" cy="7772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8908" y="2971800"/>
            <a:ext cx="2014057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400" b="1">
                <a:solidFill>
                  <a:srgbClr val="F59E0B"/>
                </a:solidFill>
                <a:latin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8636" y="3566160"/>
            <a:ext cx="1794601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Analytics &amp; Forecasting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28997" y="1828800"/>
            <a:ext cx="2014057" cy="237744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8997" y="1828800"/>
            <a:ext cx="2014057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47406" y="2098548"/>
            <a:ext cx="777240" cy="77724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7406" y="2098548"/>
            <a:ext cx="777240" cy="7772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200" b="0">
                <a:solidFill>
                  <a:srgbClr val="2D3748"/>
                </a:solidFill>
                <a:latin typeface="Segoe UI"/>
              </a:rP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997" y="2971800"/>
            <a:ext cx="2014057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400" b="1">
                <a:solidFill>
                  <a:srgbClr val="F59E0B"/>
                </a:solidFill>
                <a:latin typeface="Segoe U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725" y="3566160"/>
            <a:ext cx="1794601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Productivity &amp; Adoption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63440"/>
            <a:ext cx="11094415" cy="10972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Fixed scope · fixed timeline · code transferred to your repo on day one.</a:t>
            </a:r>
          </a:p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Beyond the catalog, we also do custom builds.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93B4FF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Segoe UI"/>
              </a:rPr>
              <a:t>FREEBIES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2D3748"/>
                </a:solidFill>
                <a:latin typeface="Segoe UI"/>
              </a:rPr>
              <a:t>Free resources, tools &amp; guides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transparent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17320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682496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8249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581912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AI Academy — 48 self-paced co…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Course library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6251" y="1417320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6251" y="1417320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9131" y="1682496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9131" y="168249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0651" y="1581912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Enterprise Guide: Agentic AI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Guide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863" y="1417320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3863" y="1417320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6743" y="1682496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6743" y="168249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8263" y="1581912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Enterprise Guide: AI Readines…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Guide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1475" y="1417320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475" y="1417320"/>
            <a:ext cx="82296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44355" y="1682496"/>
            <a:ext cx="640080" cy="64008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355" y="168249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5875" y="1581912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Enterprise Guide: Enterprise…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Guide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843784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843784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3108960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008376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Enterprise Guide: Microsoft C…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Guide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6251" y="2843784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6251" y="2843784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69131" y="3108960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9131" y="310896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0651" y="3008376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AI ROI Calculator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Interactive tool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23863" y="2843784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3863" y="2843784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6743" y="3108960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6743" y="310896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8263" y="3008376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Copilot Licensing Calculator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Interactive tool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61475" y="2843784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61475" y="2843784"/>
            <a:ext cx="82296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44355" y="3108960"/>
            <a:ext cx="640080" cy="64008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44355" y="310896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75875" y="3008376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AI Readiness Assessment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Self-assessment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270248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270248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1520" y="4535424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53542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4434840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Insights &amp; Blog library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Articles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6251" y="4270248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86251" y="4270248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569131" y="4535424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9131" y="453542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0651" y="4434840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Video library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Videos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23863" y="4270248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23863" y="4270248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06743" y="4535424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6743" y="453542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8263" y="4434840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Claude Cowork Workshop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Workshop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61475" y="4270248"/>
            <a:ext cx="2581579" cy="11704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61475" y="4270248"/>
            <a:ext cx="82296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244355" y="4535424"/>
            <a:ext cx="640080" cy="64008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44355" y="453542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🧪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5875" y="4434840"/>
            <a:ext cx="1530019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18 PoC Blueprints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Productized PoCs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Segoe U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2D3748"/>
                </a:solidFill>
                <a:latin typeface="Segoe UI"/>
              </a:rPr>
              <a:t>Real engagements, real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transparent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508760"/>
            <a:ext cx="352745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52745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764792"/>
            <a:ext cx="243017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50" b="1">
                <a:solidFill>
                  <a:srgbClr val="2D3748"/>
                </a:solidFill>
                <a:latin typeface="Segoe UI"/>
              </a:rPr>
              <a:t>MCIT Saudi Arabia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60320"/>
            <a:ext cx="307025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Segoe UI"/>
              </a:rPr>
              <a:t>Government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80360"/>
            <a:ext cx="307025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Board-ready AI roadmaps · Vision 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2122" y="1508760"/>
            <a:ext cx="352745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2122" y="1508760"/>
            <a:ext cx="352745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0722" y="1737360"/>
            <a:ext cx="640080" cy="64008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0722" y="173736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242" y="1764792"/>
            <a:ext cx="243017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50" b="1">
                <a:solidFill>
                  <a:srgbClr val="2D3748"/>
                </a:solidFill>
                <a:latin typeface="Segoe UI"/>
              </a:rPr>
              <a:t>Bank of Tanzania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8154" y="2560320"/>
            <a:ext cx="307025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Segoe UI"/>
              </a:rPr>
              <a:t>Banking &amp; Financial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8154" y="2880360"/>
            <a:ext cx="307025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Working chatbot + agent governance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5604" y="1508760"/>
            <a:ext cx="352745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5604" y="1508760"/>
            <a:ext cx="352745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44204" y="1737360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4204" y="173736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724" y="1764792"/>
            <a:ext cx="243017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50" b="1">
                <a:solidFill>
                  <a:srgbClr val="2D3748"/>
                </a:solidFill>
                <a:latin typeface="Segoe UI"/>
              </a:rPr>
              <a:t>EY (Ernst &amp; Young)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2560320"/>
            <a:ext cx="307025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Segoe UI"/>
              </a:rPr>
              <a:t>Professional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1636" y="2880360"/>
            <a:ext cx="307025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Enterprise Copilot Studio 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13632"/>
            <a:ext cx="352745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13632"/>
            <a:ext cx="352745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4142232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4223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169664"/>
            <a:ext cx="243017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50" b="1">
                <a:solidFill>
                  <a:srgbClr val="2D3748"/>
                </a:solidFill>
                <a:latin typeface="Segoe UI"/>
              </a:rPr>
              <a:t>Tech Mahindra &amp; Enterprise Clients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965192"/>
            <a:ext cx="307025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Segoe UI"/>
              </a:rPr>
              <a:t>Technology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285232"/>
            <a:ext cx="307025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Custom MCP servers, NL-to-database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2122" y="3913632"/>
            <a:ext cx="352745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32122" y="3913632"/>
            <a:ext cx="352745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60722" y="4142232"/>
            <a:ext cx="640080" cy="640080"/>
          </a:xfrm>
          <a:prstGeom prst="ellipse">
            <a:avLst/>
          </a:prstGeom>
          <a:solidFill>
            <a:srgbClr val="FDE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60722" y="414223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2242" y="4169664"/>
            <a:ext cx="243017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50" b="1">
                <a:solidFill>
                  <a:srgbClr val="2D3748"/>
                </a:solidFill>
                <a:latin typeface="Segoe UI"/>
              </a:rPr>
              <a:t>Koenig Solutions Global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8154" y="4965192"/>
            <a:ext cx="307025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Segoe UI"/>
              </a:rPr>
              <a:t>Education &amp;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8154" y="5285232"/>
            <a:ext cx="307025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100+ professionals trained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15604" y="3913632"/>
            <a:ext cx="352745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15604" y="3913632"/>
            <a:ext cx="352745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44204" y="4142232"/>
            <a:ext cx="640080" cy="640080"/>
          </a:xfrm>
          <a:prstGeom prst="ellipse">
            <a:avLst/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4204" y="414223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Segoe UI"/>
              </a:rPr>
              <a:t>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5724" y="4169664"/>
            <a:ext cx="243017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50" b="1">
                <a:solidFill>
                  <a:srgbClr val="2D3748"/>
                </a:solidFill>
                <a:latin typeface="Segoe UI"/>
              </a:rPr>
              <a:t>Open Source Community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1636" y="4965192"/>
            <a:ext cx="307025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Segoe UI"/>
              </a:rPr>
              <a:t>Education &amp; 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1636" y="5285232"/>
            <a:ext cx="307025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4A5568"/>
                </a:solidFill>
                <a:latin typeface="Segoe UI"/>
              </a:rPr>
              <a:t>Local prompt engineering (Ollama)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93B4FF"/>
                </a:solidFill>
                <a:latin typeface="Segoe UI"/>
              </a:rPr>
              <a:t>WHY GENNOOR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Segoe UI"/>
              </a:rPr>
              <a:t>We don't leave you with slideware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noor-tech-logo-horizontal-dark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338146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3515258" cy="178308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56232"/>
            <a:ext cx="2235098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Full-journey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3058058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Strategy → production, one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600200"/>
            <a:ext cx="3515258" cy="178308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600200"/>
            <a:ext cx="82296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538" y="1783080"/>
            <a:ext cx="731520" cy="731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1218" y="1856232"/>
            <a:ext cx="2235098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Microsoft-certified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538" y="2697480"/>
            <a:ext cx="3058058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Led by a Microsoft Certified Trainer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600200"/>
            <a:ext cx="3515258" cy="178308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1600200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02116" y="1783080"/>
            <a:ext cx="731520" cy="73152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2116" y="1783080"/>
            <a:ext cx="731520" cy="731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0796" y="1856232"/>
            <a:ext cx="2235098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You own what we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2116" y="2697480"/>
            <a:ext cx="3058058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Code + knowledge transfer, contractual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3515258" cy="178308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657600"/>
            <a:ext cx="82296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3840480"/>
            <a:ext cx="731520" cy="73152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731520" cy="731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3913632"/>
            <a:ext cx="2235098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Fixed-scope PoCs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3058058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Production-ready in 2–8 weeks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8218" y="3657600"/>
            <a:ext cx="3515258" cy="178308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38218" y="3657600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12538" y="3840480"/>
            <a:ext cx="731520" cy="73152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2538" y="3840480"/>
            <a:ext cx="731520" cy="731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1218" y="3913632"/>
            <a:ext cx="2235098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Free academy + 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2538" y="4754880"/>
            <a:ext cx="3058058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48 courses, guides, calculators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7796" y="3657600"/>
            <a:ext cx="3515258" cy="178308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27796" y="3657600"/>
            <a:ext cx="82296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02116" y="3840480"/>
            <a:ext cx="731520" cy="731520"/>
          </a:xfrm>
          <a:prstGeom prst="ellipse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2116" y="3840480"/>
            <a:ext cx="731520" cy="731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Segoe UI"/>
              </a:rPr>
              <a:t>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0796" y="3913632"/>
            <a:ext cx="2235098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Global 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2116" y="4754880"/>
            <a:ext cx="3058058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On-site India &amp; KSA, or remote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93B4FF"/>
                </a:solidFill>
                <a:latin typeface="Segoe UI"/>
              </a:rPr>
              <a:t>train. innovate.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noor-tech-logo-horizontal-dark_2400x820_print-high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822960"/>
            <a:ext cx="2274849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60152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Let's find your first (or next)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2704" y="283464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108960"/>
            <a:ext cx="9601200" cy="7315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500" b="0">
                <a:solidFill>
                  <a:srgbClr val="CBD5E1"/>
                </a:solidFill>
                <a:latin typeface="Segoe UI"/>
              </a:rPr>
              <a:t>A short discovery call and we'll map your goals to the right entry point — assessment, training, or a PoC.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977639"/>
            <a:ext cx="960120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250" b="0">
                <a:solidFill>
                  <a:srgbClr val="F59E0B"/>
                </a:solidFill>
                <a:latin typeface="Segoe UI"/>
              </a:rPr>
              <a:t>Pricing is scoped to each engagement (team size, functions, on-site vs remote, timeline). Reach out for a tailored quote — we never quote blind.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6647" y="4892040"/>
            <a:ext cx="3200400" cy="685800"/>
          </a:xfrm>
          <a:prstGeom prst="rect">
            <a:avLst/>
          </a:prstGeom>
          <a:solidFill>
            <a:srgbClr val="15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647" y="4892040"/>
            <a:ext cx="320040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500" b="1">
                <a:solidFill>
                  <a:srgbClr val="93B4FF"/>
                </a:solidFill>
                <a:latin typeface="Segoe UI"/>
              </a:rPr>
              <a:t>✉  </a:t>
            </a:r>
            <a:r>
              <a:rPr sz="1350" b="1">
                <a:solidFill>
                  <a:srgbClr val="FFFFFF"/>
                </a:solidFill>
                <a:latin typeface="Segoe UI"/>
              </a:rPr>
              <a:t>admin@gennoor.com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647" y="4892040"/>
            <a:ext cx="3200400" cy="685800"/>
          </a:xfrm>
          <a:prstGeom prst="rect">
            <a:avLst/>
          </a:prstGeom>
          <a:solidFill>
            <a:srgbClr val="15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647" y="4892040"/>
            <a:ext cx="320040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500" b="1">
                <a:solidFill>
                  <a:srgbClr val="93B4FF"/>
                </a:solidFill>
                <a:latin typeface="Segoe UI"/>
              </a:rPr>
              <a:t>☎  </a:t>
            </a:r>
            <a:r>
              <a:rPr sz="1350" b="1">
                <a:solidFill>
                  <a:srgbClr val="FFFFFF"/>
                </a:solidFill>
                <a:latin typeface="Segoe UI"/>
              </a:rPr>
              <a:t>+91 9326352241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647" y="4892040"/>
            <a:ext cx="3200400" cy="685800"/>
          </a:xfrm>
          <a:prstGeom prst="rect">
            <a:avLst/>
          </a:prstGeom>
          <a:solidFill>
            <a:srgbClr val="15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647" y="4892040"/>
            <a:ext cx="3200400" cy="685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500" b="1">
                <a:solidFill>
                  <a:srgbClr val="93B4FF"/>
                </a:solidFill>
                <a:latin typeface="Segoe UI"/>
              </a:rPr>
              <a:t>🌐  </a:t>
            </a:r>
            <a:r>
              <a:rPr sz="1350" b="1">
                <a:solidFill>
                  <a:srgbClr val="FFFFFF"/>
                </a:solidFill>
                <a:latin typeface="Segoe UI"/>
              </a:rPr>
              <a:t>www.gennoor.com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Delivered by Jalal Ahmed Khan — Microsoft Certified Trainer, Founder &amp; Principal AI Consultant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