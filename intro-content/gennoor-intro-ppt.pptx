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6668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0400" y="548640"/>
            <a:ext cx="2743200" cy="2743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A0B4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r>
              <a:rPr lang="en-US" sz="4400" dirty="0">
                <a:solidFill>
                  <a:srgbClr val="7B9B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r>
              <a:rPr lang="en-US" sz="4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nn</a:t>
            </a:r>
            <a:r>
              <a:rPr lang="en-US" sz="4400" dirty="0">
                <a:solidFill>
                  <a:srgbClr val="EAB3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oo</a:t>
            </a:r>
            <a:r>
              <a:rPr lang="en-US" sz="4400" dirty="0">
                <a:solidFill>
                  <a:srgbClr val="7B9BC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r>
              <a:rPr lang="en-US" sz="4400" dirty="0">
                <a:solidFill>
                  <a:srgbClr val="8FA3B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Tech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4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  innovate.  build.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3200400" y="4663440"/>
            <a:ext cx="2743200" cy="27432"/>
          </a:xfrm>
          <a:prstGeom prst="rect">
            <a:avLst/>
          </a:prstGeom>
          <a:solidFill>
            <a:srgbClr val="2563EB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empower enterprises to</a:t>
            </a:r>
            <a:endParaRPr lang="en-US" sz="2800" dirty="0"/>
          </a:p>
        </p:txBody>
      </p:sp>
      <p:sp>
        <p:nvSpPr>
          <p:cNvPr id="5" name="Text 1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harness AI at scale.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1371600" y="28346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strategy to deployment — Gennoor Tech delivers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training, consulting, and production-grade solutions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multinational companies worldwide.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114800" y="4206240"/>
            <a:ext cx="9144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54480" y="146304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Training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14400" y="29260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programs for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teams across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AI, Copilot Studio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Power Platform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566160" y="118872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3566160" y="11887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89120" y="1463040"/>
            <a:ext cx="914400" cy="914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6616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Consulting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3749040" y="29260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architecture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roadmap for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BFSI &amp; Government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00800" y="1188720"/>
            <a:ext cx="256032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6400800" y="118872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23760" y="1463040"/>
            <a:ext cx="914400" cy="914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Solutions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583680" y="29260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agentic AI,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servers, RAG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&amp; intelligent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Expertise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457200" y="868680"/>
            <a:ext cx="5669280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54864" cy="5120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31520" y="87782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&amp; Generative AI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112471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 ·  GPT-4o  ·  Claude (Anthropic)  ·  Google Gemini  ·  Llama  ·  Mistral  ·  Ollama  ·  Hugging Face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1453896"/>
            <a:ext cx="5669280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57200" y="1453896"/>
            <a:ext cx="54864" cy="5120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31520" y="146304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 Frameworks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70992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·  LangGraph  ·  CrewAI  ·  AutoGen  ·  Semantic Kernel  ·  MS Agent Framework  ·  MCP Servers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" y="2039112"/>
            <a:ext cx="5669280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57200" y="2039112"/>
            <a:ext cx="54864" cy="5120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31520" y="204825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AI — Azure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1520" y="229514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 ·  Azure AI Search  ·  Azure ML  ·  Azure OpenAI  ·  Cognitive Services  ·  Document Intelligence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7200" y="2624328"/>
            <a:ext cx="5669280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57200" y="2624328"/>
            <a:ext cx="54864" cy="5120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31520" y="263347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AI — AWS &amp; GCP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1520" y="288036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 ·  SageMaker  ·  Lex  ·  Comprehend  ·  Google Vertex AI  ·  Gemini API  ·  Cloud AutoML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3209544"/>
            <a:ext cx="5669280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57200" y="3209544"/>
            <a:ext cx="54864" cy="5120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31520" y="321868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Copilot &amp; Productivity AI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1520" y="346557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 ·  Copilot Studio  ·  GitHub Copilot  ·  Claude Code  ·  Claude Cowork  ·  Cursor  ·  Power Platform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57200" y="3794760"/>
            <a:ext cx="5669280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457200" y="3794760"/>
            <a:ext cx="54864" cy="512064"/>
          </a:xfrm>
          <a:prstGeom prst="rect">
            <a:avLst/>
          </a:pr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731520" y="380390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MLOps &amp; DevOps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31520" y="40507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Pipelines  ·  MLflow  ·  Docker  ·  GitHub Actions  ·  Azure DevOps  ·  CI/CD  ·  Weights &amp; Biases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379976"/>
            <a:ext cx="5669280" cy="51206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457200" y="4379976"/>
            <a:ext cx="54864" cy="5120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731520" y="438912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Automation &amp; Integration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31520" y="463600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 ·  Power Automate  ·  Logic Apps  ·  Dataverse  ·  FastAPI  ·  Zapier  ·  Make  ·  Adaptive Cards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400800" y="8686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Certifications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400800" y="1234440"/>
            <a:ext cx="1143000" cy="256032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6400800" y="1234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AB-100 Agentic AI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7635240" y="1234440"/>
            <a:ext cx="1143000" cy="256032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7635240" y="1234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AI-102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6400800" y="1563624"/>
            <a:ext cx="1143000" cy="256032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6400800" y="15636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AZ-400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7635240" y="1563624"/>
            <a:ext cx="1143000" cy="256032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7635240" y="15636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AZ-204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6400800" y="1892808"/>
            <a:ext cx="1143000" cy="256032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6400800" y="1892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AZ-305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635240" y="1892808"/>
            <a:ext cx="1143000" cy="256032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7635240" y="18928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DP-100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6400800" y="2221992"/>
            <a:ext cx="1143000" cy="256032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6400800" y="222199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PL-300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7635240" y="2221992"/>
            <a:ext cx="1143000" cy="256032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7635240" y="222199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PL-400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6400800" y="2551176"/>
            <a:ext cx="1143000" cy="256032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7"/>
          <p:cNvSpPr/>
          <p:nvPr/>
        </p:nvSpPr>
        <p:spPr>
          <a:xfrm>
            <a:off x="6400800" y="255117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PL-200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7635240" y="2551176"/>
            <a:ext cx="1143000" cy="256032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7635240" y="255117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GH-900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400800" y="2880360"/>
            <a:ext cx="1143000" cy="256032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6400800" y="28803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GH-300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635240" y="2880360"/>
            <a:ext cx="1143000" cy="256032"/>
          </a:xfrm>
          <a:prstGeom prst="rect">
            <a:avLst/>
          </a:prstGeom>
          <a:solidFill>
            <a:srgbClr val="2563EB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3"/>
          <p:cNvSpPr/>
          <p:nvPr/>
        </p:nvSpPr>
        <p:spPr>
          <a:xfrm>
            <a:off x="7635240" y="28803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AI-900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6400800" y="32918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Applied Skills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6400800" y="3611880"/>
            <a:ext cx="1143000" cy="228600"/>
          </a:xfrm>
          <a:prstGeom prst="rect">
            <a:avLst/>
          </a:prstGeom>
          <a:solidFill>
            <a:srgbClr val="2563EB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6"/>
          <p:cNvSpPr/>
          <p:nvPr/>
        </p:nvSpPr>
        <p:spPr>
          <a:xfrm>
            <a:off x="6400800" y="36118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(Azure)</a:t>
            </a:r>
            <a:endParaRPr lang="en-US" sz="700" dirty="0"/>
          </a:p>
        </p:txBody>
      </p:sp>
      <p:sp>
        <p:nvSpPr>
          <p:cNvPr id="60" name="Shape 57"/>
          <p:cNvSpPr/>
          <p:nvPr/>
        </p:nvSpPr>
        <p:spPr>
          <a:xfrm>
            <a:off x="7635240" y="3611880"/>
            <a:ext cx="1143000" cy="228600"/>
          </a:xfrm>
          <a:prstGeom prst="rect">
            <a:avLst/>
          </a:prstGeom>
          <a:solidFill>
            <a:srgbClr val="2563EB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7635240" y="36118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Copilots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6400800" y="3904488"/>
            <a:ext cx="1143000" cy="228600"/>
          </a:xfrm>
          <a:prstGeom prst="rect">
            <a:avLst/>
          </a:prstGeom>
          <a:solidFill>
            <a:srgbClr val="2563EB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6400800" y="39044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700" dirty="0"/>
          </a:p>
        </p:txBody>
      </p:sp>
      <p:sp>
        <p:nvSpPr>
          <p:cNvPr id="64" name="Shape 61"/>
          <p:cNvSpPr/>
          <p:nvPr/>
        </p:nvSpPr>
        <p:spPr>
          <a:xfrm>
            <a:off x="7635240" y="3904488"/>
            <a:ext cx="1143000" cy="228600"/>
          </a:xfrm>
          <a:prstGeom prst="rect">
            <a:avLst/>
          </a:prstGeom>
          <a:solidFill>
            <a:srgbClr val="2563EB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2"/>
          <p:cNvSpPr/>
          <p:nvPr/>
        </p:nvSpPr>
        <p:spPr>
          <a:xfrm>
            <a:off x="7635240" y="390448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Intelligence</a:t>
            </a:r>
            <a:endParaRPr lang="en-US" sz="700" dirty="0"/>
          </a:p>
        </p:txBody>
      </p:sp>
      <p:sp>
        <p:nvSpPr>
          <p:cNvPr id="66" name="Shape 63"/>
          <p:cNvSpPr/>
          <p:nvPr/>
        </p:nvSpPr>
        <p:spPr>
          <a:xfrm>
            <a:off x="6400800" y="4197096"/>
            <a:ext cx="1143000" cy="228600"/>
          </a:xfrm>
          <a:prstGeom prst="rect">
            <a:avLst/>
          </a:prstGeom>
          <a:solidFill>
            <a:srgbClr val="2563EB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4"/>
          <p:cNvSpPr/>
          <p:nvPr/>
        </p:nvSpPr>
        <p:spPr>
          <a:xfrm>
            <a:off x="6400800" y="419709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Vision</a:t>
            </a:r>
            <a:endParaRPr lang="en-US" sz="700" dirty="0"/>
          </a:p>
        </p:txBody>
      </p:sp>
      <p:sp>
        <p:nvSpPr>
          <p:cNvPr id="68" name="Shape 65"/>
          <p:cNvSpPr/>
          <p:nvPr/>
        </p:nvSpPr>
        <p:spPr>
          <a:xfrm>
            <a:off x="7635240" y="4197096"/>
            <a:ext cx="1143000" cy="228600"/>
          </a:xfrm>
          <a:prstGeom prst="rect">
            <a:avLst/>
          </a:prstGeom>
          <a:solidFill>
            <a:srgbClr val="2563EB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6"/>
          <p:cNvSpPr/>
          <p:nvPr/>
        </p:nvSpPr>
        <p:spPr>
          <a:xfrm>
            <a:off x="7635240" y="419709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82880"/>
            <a:ext cx="164592" cy="164592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58368" y="182880"/>
            <a:ext cx="164592" cy="164592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82880"/>
            <a:ext cx="164592" cy="164592"/>
          </a:xfrm>
          <a:prstGeom prst="rect">
            <a:avLst/>
          </a:prstGeom>
          <a:solidFill>
            <a:srgbClr val="F250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58368" y="182880"/>
            <a:ext cx="164592" cy="164592"/>
          </a:xfrm>
          <a:prstGeom prst="rect">
            <a:avLst/>
          </a:prstGeom>
          <a:solidFill>
            <a:srgbClr val="7FBA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8368" y="384048"/>
            <a:ext cx="164592" cy="164592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270000" y="54864"/>
            <a:ext cx="7051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 AI &amp; Cloud Stack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5760" y="1051560"/>
            <a:ext cx="2697480" cy="3840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1051560"/>
            <a:ext cx="2697480" cy="4572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1188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Azure AI &amp; ML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55064"/>
            <a:ext cx="109728" cy="109728"/>
          </a:xfrm>
          <a:prstGeom prst="ellipse">
            <a:avLst/>
          </a:prstGeom>
          <a:solidFill>
            <a:srgbClr val="0078D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Service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1956816"/>
            <a:ext cx="109728" cy="109728"/>
          </a:xfrm>
          <a:prstGeom prst="ellipse">
            <a:avLst/>
          </a:prstGeom>
          <a:solidFill>
            <a:srgbClr val="0078D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5800" y="1901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258568"/>
            <a:ext cx="109728" cy="109728"/>
          </a:xfrm>
          <a:prstGeom prst="ellipse">
            <a:avLst/>
          </a:prstGeom>
          <a:solidFill>
            <a:srgbClr val="0078D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5800" y="2203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(RAG)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2560320"/>
            <a:ext cx="109728" cy="109728"/>
          </a:xfrm>
          <a:prstGeom prst="ellipse">
            <a:avLst/>
          </a:prstGeom>
          <a:solidFill>
            <a:srgbClr val="0078D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5800" y="2505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ML Pipelines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862072"/>
            <a:ext cx="109728" cy="109728"/>
          </a:xfrm>
          <a:prstGeom prst="ellipse">
            <a:avLst/>
          </a:prstGeom>
          <a:solidFill>
            <a:srgbClr val="0078D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85800" y="2807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Cognitive Services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163824"/>
            <a:ext cx="109728" cy="109728"/>
          </a:xfrm>
          <a:prstGeom prst="ellipse">
            <a:avLst/>
          </a:prstGeom>
          <a:solidFill>
            <a:srgbClr val="0078D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85800" y="3108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465576"/>
            <a:ext cx="109728" cy="109728"/>
          </a:xfrm>
          <a:prstGeom prst="ellipse">
            <a:avLst/>
          </a:prstGeom>
          <a:solidFill>
            <a:srgbClr val="0078D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85800" y="34107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Bot Service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767328"/>
            <a:ext cx="109728" cy="109728"/>
          </a:xfrm>
          <a:prstGeom prst="ellipse">
            <a:avLst/>
          </a:prstGeom>
          <a:solidFill>
            <a:srgbClr val="0078D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85800" y="3712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4069080"/>
            <a:ext cx="109728" cy="109728"/>
          </a:xfrm>
          <a:prstGeom prst="ellipse">
            <a:avLst/>
          </a:prstGeom>
          <a:solidFill>
            <a:srgbClr val="0078D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85800" y="40142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Vision APIs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4370832"/>
            <a:ext cx="109728" cy="109728"/>
          </a:xfrm>
          <a:prstGeom prst="ellipse">
            <a:avLst/>
          </a:prstGeom>
          <a:solidFill>
            <a:srgbClr val="0078D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8580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on Azure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91840" y="1051560"/>
            <a:ext cx="2697480" cy="3840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291840" y="1051560"/>
            <a:ext cx="2697480" cy="45720"/>
          </a:xfrm>
          <a:prstGeom prst="rect">
            <a:avLst/>
          </a:prstGeom>
          <a:solidFill>
            <a:srgbClr val="6264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429000" y="1188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64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Copilot Ecosystem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429000" y="1655064"/>
            <a:ext cx="109728" cy="109728"/>
          </a:xfrm>
          <a:prstGeom prst="ellipse">
            <a:avLst/>
          </a:prstGeom>
          <a:solidFill>
            <a:srgbClr val="6264A7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61188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29000" y="1956816"/>
            <a:ext cx="109728" cy="109728"/>
          </a:xfrm>
          <a:prstGeom prst="ellipse">
            <a:avLst/>
          </a:prstGeom>
          <a:solidFill>
            <a:srgbClr val="6264A7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611880" y="1901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Studio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29000" y="2258568"/>
            <a:ext cx="109728" cy="109728"/>
          </a:xfrm>
          <a:prstGeom prst="ellipse">
            <a:avLst/>
          </a:prstGeom>
          <a:solidFill>
            <a:srgbClr val="6264A7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611880" y="2203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29000" y="2560320"/>
            <a:ext cx="109728" cy="109728"/>
          </a:xfrm>
          <a:prstGeom prst="ellipse">
            <a:avLst/>
          </a:prstGeom>
          <a:solidFill>
            <a:srgbClr val="6264A7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611880" y="2505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Agent Builder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29000" y="2862072"/>
            <a:ext cx="109728" cy="109728"/>
          </a:xfrm>
          <a:prstGeom prst="ellipse">
            <a:avLst/>
          </a:prstGeom>
          <a:solidFill>
            <a:srgbClr val="6264A7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611880" y="2807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29000" y="3163824"/>
            <a:ext cx="109728" cy="109728"/>
          </a:xfrm>
          <a:prstGeom prst="ellipse">
            <a:avLst/>
          </a:prstGeom>
          <a:solidFill>
            <a:srgbClr val="6264A7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611880" y="3108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Agent Framework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29000" y="3465576"/>
            <a:ext cx="109728" cy="109728"/>
          </a:xfrm>
          <a:prstGeom prst="ellipse">
            <a:avLst/>
          </a:prstGeom>
          <a:solidFill>
            <a:srgbClr val="6264A7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611880" y="34107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Cards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29000" y="3767328"/>
            <a:ext cx="109728" cy="109728"/>
          </a:xfrm>
          <a:prstGeom prst="ellipse">
            <a:avLst/>
          </a:prstGeom>
          <a:solidFill>
            <a:srgbClr val="6264A7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611880" y="3712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Agent Service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29000" y="4069080"/>
            <a:ext cx="109728" cy="109728"/>
          </a:xfrm>
          <a:prstGeom prst="ellipse">
            <a:avLst/>
          </a:prstGeom>
          <a:solidFill>
            <a:srgbClr val="6264A7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611880" y="40142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for Sales/Service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29000" y="4370832"/>
            <a:ext cx="109728" cy="109728"/>
          </a:xfrm>
          <a:prstGeom prst="ellipse">
            <a:avLst/>
          </a:prstGeom>
          <a:solidFill>
            <a:srgbClr val="6264A7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61188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AI Library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17920" y="1051560"/>
            <a:ext cx="2697480" cy="38404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6217920" y="1051560"/>
            <a:ext cx="2697480" cy="45720"/>
          </a:xfrm>
          <a:prstGeom prst="rect">
            <a:avLst/>
          </a:prstGeom>
          <a:solidFill>
            <a:srgbClr val="7427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355080" y="1188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4277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Platform &amp; DevOps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6355080" y="1655064"/>
            <a:ext cx="109728" cy="109728"/>
          </a:xfrm>
          <a:prstGeom prst="ellipse">
            <a:avLst/>
          </a:prstGeom>
          <a:solidFill>
            <a:srgbClr val="74277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537960" y="16002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Apps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355080" y="1956816"/>
            <a:ext cx="109728" cy="109728"/>
          </a:xfrm>
          <a:prstGeom prst="ellipse">
            <a:avLst/>
          </a:prstGeom>
          <a:solidFill>
            <a:srgbClr val="74277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537960" y="1901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355080" y="2258568"/>
            <a:ext cx="109728" cy="109728"/>
          </a:xfrm>
          <a:prstGeom prst="ellipse">
            <a:avLst/>
          </a:prstGeom>
          <a:solidFill>
            <a:srgbClr val="74277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537960" y="2203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355080" y="2560320"/>
            <a:ext cx="109728" cy="109728"/>
          </a:xfrm>
          <a:prstGeom prst="ellipse">
            <a:avLst/>
          </a:prstGeom>
          <a:solidFill>
            <a:srgbClr val="74277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6537960" y="2505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Dataverse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355080" y="2862072"/>
            <a:ext cx="109728" cy="109728"/>
          </a:xfrm>
          <a:prstGeom prst="ellipse">
            <a:avLst/>
          </a:prstGeom>
          <a:solidFill>
            <a:srgbClr val="74277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537960" y="2807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Pages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355080" y="3163824"/>
            <a:ext cx="109728" cy="109728"/>
          </a:xfrm>
          <a:prstGeom prst="ellipse">
            <a:avLst/>
          </a:prstGeom>
          <a:solidFill>
            <a:srgbClr val="74277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6537960" y="3108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355080" y="3465576"/>
            <a:ext cx="109728" cy="109728"/>
          </a:xfrm>
          <a:prstGeom prst="ellipse">
            <a:avLst/>
          </a:prstGeom>
          <a:solidFill>
            <a:srgbClr val="74277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537960" y="34107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355080" y="3767328"/>
            <a:ext cx="109728" cy="109728"/>
          </a:xfrm>
          <a:prstGeom prst="ellipse">
            <a:avLst/>
          </a:prstGeom>
          <a:solidFill>
            <a:srgbClr val="74277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537960" y="3712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355080" y="4069080"/>
            <a:ext cx="109728" cy="109728"/>
          </a:xfrm>
          <a:prstGeom prst="ellipse">
            <a:avLst/>
          </a:prstGeom>
          <a:solidFill>
            <a:srgbClr val="74277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6537960" y="40142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 &amp; Managed Envs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355080" y="4370832"/>
            <a:ext cx="109728" cy="109728"/>
          </a:xfrm>
          <a:prstGeom prst="ellipse">
            <a:avLst/>
          </a:prstGeom>
          <a:solidFill>
            <a:srgbClr val="742774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6537960" y="4315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46320" cy="82296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846320" y="0"/>
            <a:ext cx="4297680" cy="82296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Amazon Web Services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0" y="137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Cloud Platform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31920" cy="65836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4864" cy="65836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115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F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· Titan Models · PartyRock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3931920" cy="65836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847088"/>
            <a:ext cx="54864" cy="65836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1865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F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&amp; Training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167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· SageMaker Studio · Autopilot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3931920" cy="65836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596896"/>
            <a:ext cx="54864" cy="65836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94360" y="2615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F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NLP &amp; Conversation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29169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Lex · Comprehend · Transcribe · Translate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346704"/>
            <a:ext cx="3931920" cy="65836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346704"/>
            <a:ext cx="54864" cy="65836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4360" y="3364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F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 &amp; Media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666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Rekognition · Textract · Personalize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3931920" cy="65836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54864" cy="658368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94360" y="4114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F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416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· S3 · EC2 (GPU) · Step Functions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097280"/>
            <a:ext cx="3931920" cy="65836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46320" y="1097280"/>
            <a:ext cx="54864" cy="658368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74920" y="1115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1417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· Gemini API · Imagen · PaLM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1847088"/>
            <a:ext cx="3931920" cy="65836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46320" y="1847088"/>
            <a:ext cx="54864" cy="658368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74920" y="1865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&amp; Training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74920" y="2167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· Vertex AI Pipelines · TensorFlow on GCP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2596896"/>
            <a:ext cx="3931920" cy="65836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846320" y="2596896"/>
            <a:ext cx="54864" cy="658368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074920" y="2615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NLP &amp; Conversation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74920" y="29169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· Natural Language API · Translation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3346704"/>
            <a:ext cx="3931920" cy="65836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846320" y="3346704"/>
            <a:ext cx="54864" cy="658368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074920" y="3364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 &amp; Data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74920" y="36667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AI · Document AI · BigQuery ML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4096512"/>
            <a:ext cx="3931920" cy="65836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846320" y="4096512"/>
            <a:ext cx="54864" cy="658368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074920" y="4114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73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74920" y="4416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 · Cloud Run · GKE (GPU) · Pub/Sub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Source &amp; ML Ecosystem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 AI tools we train, build, and deploy with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2011680" cy="3749040"/>
          </a:xfrm>
          <a:prstGeom prst="rect">
            <a:avLst/>
          </a:prstGeom>
          <a:solidFill>
            <a:srgbClr val="131D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1148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1645920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11480" y="1645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1480" y="1975104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11480" y="1975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11480" y="2304288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11480" y="23042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633472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1148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11480" y="2962656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11480" y="29626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11480" y="3291840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11480" y="3291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11480" y="3621024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11480" y="3621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3950208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11480" y="3950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11480" y="4279392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11480" y="4279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514600" y="1097280"/>
            <a:ext cx="2011680" cy="3749040"/>
          </a:xfrm>
          <a:prstGeom prst="rect">
            <a:avLst/>
          </a:prstGeom>
          <a:solidFill>
            <a:srgbClr val="131D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2514600" y="1097280"/>
            <a:ext cx="201168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60604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Generative AI &amp; LLMs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606040" y="1645920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2606040" y="1645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606040" y="1975104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606040" y="1975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606040" y="2304288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2606040" y="23042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2606040" y="2633472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260604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2606040" y="2962656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2606040" y="29626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2606040" y="3291840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2606040" y="3291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606040" y="3621024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2606040" y="3621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2606040" y="3950208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2606040" y="3950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2606040" y="4279392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2606040" y="4279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GPT4All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709160" y="1097280"/>
            <a:ext cx="2011680" cy="3749040"/>
          </a:xfrm>
          <a:prstGeom prst="rect">
            <a:avLst/>
          </a:prstGeom>
          <a:solidFill>
            <a:srgbClr val="131D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5"/>
          <p:cNvSpPr/>
          <p:nvPr/>
        </p:nvSpPr>
        <p:spPr>
          <a:xfrm>
            <a:off x="4709160" y="1097280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480060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 &amp; RAG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4800600" y="1645920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8"/>
          <p:cNvSpPr/>
          <p:nvPr/>
        </p:nvSpPr>
        <p:spPr>
          <a:xfrm>
            <a:off x="4800600" y="1645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4800600" y="1975104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0"/>
          <p:cNvSpPr/>
          <p:nvPr/>
        </p:nvSpPr>
        <p:spPr>
          <a:xfrm>
            <a:off x="4800600" y="1975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800600" y="2304288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4800600" y="23042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4800600" y="2633472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480060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4800600" y="2962656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6"/>
          <p:cNvSpPr/>
          <p:nvPr/>
        </p:nvSpPr>
        <p:spPr>
          <a:xfrm>
            <a:off x="4800600" y="29626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4800600" y="3291840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4800600" y="3291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4800600" y="3621024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4800600" y="3621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800600" y="3950208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2"/>
          <p:cNvSpPr/>
          <p:nvPr/>
        </p:nvSpPr>
        <p:spPr>
          <a:xfrm>
            <a:off x="4800600" y="3950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4800600" y="4279392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4"/>
          <p:cNvSpPr/>
          <p:nvPr/>
        </p:nvSpPr>
        <p:spPr>
          <a:xfrm>
            <a:off x="4800600" y="4279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6903720" y="1097280"/>
            <a:ext cx="2011680" cy="3749040"/>
          </a:xfrm>
          <a:prstGeom prst="rect">
            <a:avLst/>
          </a:prstGeom>
          <a:solidFill>
            <a:srgbClr val="131D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6"/>
          <p:cNvSpPr/>
          <p:nvPr/>
        </p:nvSpPr>
        <p:spPr>
          <a:xfrm>
            <a:off x="6903720" y="1097280"/>
            <a:ext cx="2011680" cy="457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699516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 Tools &amp; Infra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6995160" y="1645920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6995160" y="1645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6995160" y="1975104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1"/>
          <p:cNvSpPr/>
          <p:nvPr/>
        </p:nvSpPr>
        <p:spPr>
          <a:xfrm>
            <a:off x="6995160" y="19751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75" name="Shape 72"/>
          <p:cNvSpPr/>
          <p:nvPr/>
        </p:nvSpPr>
        <p:spPr>
          <a:xfrm>
            <a:off x="6995160" y="2304288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3"/>
          <p:cNvSpPr/>
          <p:nvPr/>
        </p:nvSpPr>
        <p:spPr>
          <a:xfrm>
            <a:off x="6995160" y="23042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950" dirty="0"/>
          </a:p>
        </p:txBody>
      </p:sp>
      <p:sp>
        <p:nvSpPr>
          <p:cNvPr id="77" name="Shape 74"/>
          <p:cNvSpPr/>
          <p:nvPr/>
        </p:nvSpPr>
        <p:spPr>
          <a:xfrm>
            <a:off x="6995160" y="2633472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699516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6995160" y="2962656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7"/>
          <p:cNvSpPr/>
          <p:nvPr/>
        </p:nvSpPr>
        <p:spPr>
          <a:xfrm>
            <a:off x="6995160" y="29626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950" dirty="0"/>
          </a:p>
        </p:txBody>
      </p:sp>
      <p:sp>
        <p:nvSpPr>
          <p:cNvPr id="81" name="Shape 78"/>
          <p:cNvSpPr/>
          <p:nvPr/>
        </p:nvSpPr>
        <p:spPr>
          <a:xfrm>
            <a:off x="6995160" y="3291840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79"/>
          <p:cNvSpPr/>
          <p:nvPr/>
        </p:nvSpPr>
        <p:spPr>
          <a:xfrm>
            <a:off x="6995160" y="3291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</a:t>
            </a:r>
            <a:endParaRPr lang="en-US" sz="950" dirty="0"/>
          </a:p>
        </p:txBody>
      </p:sp>
      <p:sp>
        <p:nvSpPr>
          <p:cNvPr id="83" name="Shape 80"/>
          <p:cNvSpPr/>
          <p:nvPr/>
        </p:nvSpPr>
        <p:spPr>
          <a:xfrm>
            <a:off x="6995160" y="3621024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1"/>
          <p:cNvSpPr/>
          <p:nvPr/>
        </p:nvSpPr>
        <p:spPr>
          <a:xfrm>
            <a:off x="6995160" y="3621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6995160" y="3950208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3"/>
          <p:cNvSpPr/>
          <p:nvPr/>
        </p:nvSpPr>
        <p:spPr>
          <a:xfrm>
            <a:off x="6995160" y="3950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950" dirty="0"/>
          </a:p>
        </p:txBody>
      </p:sp>
      <p:sp>
        <p:nvSpPr>
          <p:cNvPr id="87" name="Shape 84"/>
          <p:cNvSpPr/>
          <p:nvPr/>
        </p:nvSpPr>
        <p:spPr>
          <a:xfrm>
            <a:off x="6995160" y="4279392"/>
            <a:ext cx="173736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5"/>
          <p:cNvSpPr/>
          <p:nvPr/>
        </p:nvSpPr>
        <p:spPr>
          <a:xfrm>
            <a:off x="6995160" y="4279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Delivery</a:t>
            </a:r>
            <a:endParaRPr lang="en-US" sz="1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880" y="365760"/>
            <a:ext cx="877824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4297680"/>
            <a:ext cx="1143000" cy="7315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1" descr="/home/claude/flags/sa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25112"/>
            <a:ext cx="502920" cy="3383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0040" y="4663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1581912" y="4297680"/>
            <a:ext cx="1143000" cy="7315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2" descr="/home/claude/flags/ae_cle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1952" y="4325112"/>
            <a:ext cx="502920" cy="3383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81912" y="4663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800" dirty="0"/>
          </a:p>
        </p:txBody>
      </p:sp>
      <p:sp>
        <p:nvSpPr>
          <p:cNvPr id="10" name="Shape 5"/>
          <p:cNvSpPr/>
          <p:nvPr/>
        </p:nvSpPr>
        <p:spPr>
          <a:xfrm>
            <a:off x="2843784" y="4297680"/>
            <a:ext cx="1143000" cy="7315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3" descr="/home/claude/flags/bh_cl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3824" y="4325112"/>
            <a:ext cx="502920" cy="3383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843784" y="4663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Bahrain</a:t>
            </a:r>
            <a:endParaRPr lang="en-US" sz="800" dirty="0"/>
          </a:p>
        </p:txBody>
      </p:sp>
      <p:sp>
        <p:nvSpPr>
          <p:cNvPr id="13" name="Shape 7"/>
          <p:cNvSpPr/>
          <p:nvPr/>
        </p:nvSpPr>
        <p:spPr>
          <a:xfrm>
            <a:off x="4105656" y="4297680"/>
            <a:ext cx="1143000" cy="7315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4" descr="/home/claude/flags/tz_cle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5696" y="4325112"/>
            <a:ext cx="502920" cy="33832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105656" y="4663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</a:t>
            </a:r>
            <a:endParaRPr lang="en-US" sz="800" dirty="0"/>
          </a:p>
        </p:txBody>
      </p:sp>
      <p:sp>
        <p:nvSpPr>
          <p:cNvPr id="16" name="Shape 9"/>
          <p:cNvSpPr/>
          <p:nvPr/>
        </p:nvSpPr>
        <p:spPr>
          <a:xfrm>
            <a:off x="5367528" y="4297680"/>
            <a:ext cx="1143000" cy="7315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5" descr="/home/claude/flags/in_cle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7568" y="4325112"/>
            <a:ext cx="502920" cy="33832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367528" y="4663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800" dirty="0"/>
          </a:p>
        </p:txBody>
      </p:sp>
      <p:sp>
        <p:nvSpPr>
          <p:cNvPr id="19" name="Shape 11"/>
          <p:cNvSpPr/>
          <p:nvPr/>
        </p:nvSpPr>
        <p:spPr>
          <a:xfrm>
            <a:off x="6629400" y="4297680"/>
            <a:ext cx="1143000" cy="7315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6" descr="/home/claude/flags/au_clea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9440" y="4325112"/>
            <a:ext cx="502920" cy="33832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629400" y="4663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800" dirty="0"/>
          </a:p>
        </p:txBody>
      </p:sp>
      <p:sp>
        <p:nvSpPr>
          <p:cNvPr id="22" name="Shape 13"/>
          <p:cNvSpPr/>
          <p:nvPr/>
        </p:nvSpPr>
        <p:spPr>
          <a:xfrm>
            <a:off x="7891272" y="4297680"/>
            <a:ext cx="1143000" cy="7315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7" descr="/home/claude/flags/gb_cle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1312" y="4325112"/>
            <a:ext cx="502920" cy="33832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891272" y="4663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Trained &amp; Consulted For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delivered to multinational companies across industries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1965960" cy="45720"/>
          </a:xfrm>
          <a:prstGeom prst="rect">
            <a:avLst/>
          </a:prstGeom>
          <a:solidFill>
            <a:srgbClr val="00A4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A4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 Partner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97480" y="137160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697480" y="1371600"/>
            <a:ext cx="1965960" cy="45720"/>
          </a:xfrm>
          <a:prstGeom prst="rect">
            <a:avLst/>
          </a:prstGeom>
          <a:solidFill>
            <a:srgbClr val="FFE6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697480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EY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697480" y="2103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Programs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46320" y="137160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846320" y="1371600"/>
            <a:ext cx="1965960" cy="45720"/>
          </a:xfrm>
          <a:prstGeom prst="rect">
            <a:avLst/>
          </a:prstGeom>
          <a:solidFill>
            <a:srgbClr val="054A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846320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54AD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IBM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846320" y="2103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995160" y="137160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995160" y="1371600"/>
            <a:ext cx="1965960" cy="45720"/>
          </a:xfrm>
          <a:prstGeom prst="rect">
            <a:avLst/>
          </a:prstGeom>
          <a:solidFill>
            <a:srgbClr val="0033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995160" y="1554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33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Boeing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995160" y="21031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" y="278892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548640" y="2788920"/>
            <a:ext cx="1965960" cy="45720"/>
          </a:xfrm>
          <a:prstGeom prst="rect">
            <a:avLst/>
          </a:prstGeom>
          <a:solidFill>
            <a:srgbClr val="0084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48640" y="2971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84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Saudi Aramco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48640" y="3520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AI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697480" y="278892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2697480" y="2788920"/>
            <a:ext cx="1965960" cy="45720"/>
          </a:xfrm>
          <a:prstGeom prst="rect">
            <a:avLst/>
          </a:prstGeom>
          <a:solidFill>
            <a:srgbClr val="004B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2697480" y="2971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B8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HDFC Bank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2697480" y="3520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846320" y="278892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4846320" y="2788920"/>
            <a:ext cx="1965960" cy="45720"/>
          </a:xfrm>
          <a:prstGeom prst="rect">
            <a:avLst/>
          </a:prstGeom>
          <a:solidFill>
            <a:srgbClr val="006C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846320" y="2971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6C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MCIT Saudi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4846320" y="3520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AI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995160" y="278892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6995160" y="2788920"/>
            <a:ext cx="1965960" cy="45720"/>
          </a:xfrm>
          <a:prstGeom prst="rect">
            <a:avLst/>
          </a:prstGeom>
          <a:solidFill>
            <a:srgbClr val="004B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995160" y="29718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4B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PepsiCo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6995160" y="35204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Corp. Training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Engagements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31520" y="4572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MCIT Saudi Arabia — National AI Capacity Building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663440" y="4572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Bank of Tanzania — Digital Banking Transformation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31520" y="4828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EY BFSI — 40-Hour Agentic AI in Power Platform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663440" y="4828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Govt of Bahrain — Enterprise Cloud &amp; AI Readiness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548640"/>
            <a:ext cx="2560320" cy="34747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57200" y="54864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CEO Photo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(Replace with image)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3474720" y="5486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D374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Jalal Khan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474719" y="1005840"/>
            <a:ext cx="55386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 ·  Project Manager  ·  Digital Transformation ·  Microsoft Certified Trainer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3474720" y="12801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M.E. Mechanical Engg. (Mumbai University)  ·  14+ Years Experience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474720" y="1728216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529584" y="1874520"/>
            <a:ext cx="36576" cy="237744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749040" y="16733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434840" y="16733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Professor — Mumbai University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474720" y="2112264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529584" y="2258568"/>
            <a:ext cx="36576" cy="237744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749040" y="20574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434840" y="20574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Senior Corporate Trainer — Koenig Solutions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474720" y="2496312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529584" y="2642616"/>
            <a:ext cx="36576" cy="237744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749040" y="24414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434840" y="24414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 Trainer (MCT)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474720" y="288036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529584" y="3026664"/>
            <a:ext cx="36576" cy="237744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749040" y="28254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2023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434840" y="28254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Asst. Technical Manager AI — Koenig Solutions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474720" y="3264408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29584" y="3410712"/>
            <a:ext cx="36576" cy="237744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749040" y="32095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434840" y="32095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PM &amp; AI Solution Architect — Tech Mahindra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474720" y="3648456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529584" y="3794760"/>
            <a:ext cx="36576" cy="237744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749040" y="3593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434840" y="35935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Founded Gennoor Tech Private Limited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474720" y="403250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749040" y="39776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434840" y="39776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A55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Business Solutions Architect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6+ Countries  ·  80+ Organizations  ·  5000+ Professionals Trained  ·  GCC · Africa · APAC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3200400" y="4800600"/>
            <a:ext cx="274320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392B7CE-C2B9-B602-5FFE-26A3E1B1F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812" y="594360"/>
            <a:ext cx="2557708" cy="33779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94760" y="182880"/>
            <a:ext cx="1554480" cy="15544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CEO’s Desk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how enterprises adopt, implement, and scale AI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57200" y="25603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457200" y="3200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RFP Response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Azure OpenAI PoC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606040" y="25603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800" dirty="0"/>
          </a:p>
        </p:txBody>
      </p:sp>
      <p:sp>
        <p:nvSpPr>
          <p:cNvPr id="9" name="Text 5"/>
          <p:cNvSpPr/>
          <p:nvPr/>
        </p:nvSpPr>
        <p:spPr>
          <a:xfrm>
            <a:off x="2606040" y="3200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AI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Rate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754880" y="25603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</a:t>
            </a:r>
            <a:endParaRPr lang="en-US" sz="3800" dirty="0"/>
          </a:p>
        </p:txBody>
      </p:sp>
      <p:sp>
        <p:nvSpPr>
          <p:cNvPr id="11" name="Text 7"/>
          <p:cNvSpPr/>
          <p:nvPr/>
        </p:nvSpPr>
        <p:spPr>
          <a:xfrm>
            <a:off x="4754880" y="3200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Programs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903720" y="25603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6903720" y="3200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Leaders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8F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(MCIT &amp; SADAI Saudi)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914400" y="3794760"/>
            <a:ext cx="7315200" cy="18288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5720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B8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5000+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457200" y="4434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Upskilled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60604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B8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80+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2606040" y="4434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Delivered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5488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B8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4754880" y="4434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AI Tools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903720" y="3931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B8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14+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6903720" y="4434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Certifications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2743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Can Help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374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&amp; Agentic AI Solutions Across Industries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771" y="1280160"/>
            <a:ext cx="7935686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83280" y="274320"/>
            <a:ext cx="2377440" cy="23774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A0B4CC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7B9BC5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nn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AB308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oo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7B9BC5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8FA3BA"/>
                </a:solidFill>
                <a:effectLst/>
                <a:uLnTx/>
                <a:uFillTx/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Tech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6B8F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Together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2"/>
          <p:cNvSpPr/>
          <p:nvPr/>
        </p:nvSpPr>
        <p:spPr>
          <a:xfrm>
            <a:off x="2011680" y="3566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FA3B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🌐  www.gennoor.com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3"/>
          <p:cNvSpPr/>
          <p:nvPr/>
        </p:nvSpPr>
        <p:spPr>
          <a:xfrm>
            <a:off x="2011680" y="3840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FA3B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✉  enquiry@gennoor.com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2011680" y="4114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FA3B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📱  +91 9326 352 241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2011680" y="43891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FA3B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🔗  linkedin.com/company/gennoor-tech-private-limited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011680" y="46634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FA3B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▶  YouTube — @GennoorTech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200400" y="4892040"/>
            <a:ext cx="2743200" cy="27432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a4170-0d19-0005-0004-bc88714345d2}" enabled="1" method="Standard" siteId="{2243f965-7483-47b5-8481-26f2d02b5c3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884</Words>
  <Application>Microsoft Office PowerPoint</Application>
  <PresentationFormat>On-screen Show (16:9)</PresentationFormat>
  <Paragraphs>251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Gennoor Tech Private Limited</dc:title>
  <dc:subject>PptxGenJS Presentation</dc:subject>
  <dc:creator>Jalal Ahmed Khan</dc:creator>
  <cp:lastModifiedBy>Jalal Khan</cp:lastModifiedBy>
  <cp:revision>8</cp:revision>
  <dcterms:created xsi:type="dcterms:W3CDTF">2026-03-12T16:34:04Z</dcterms:created>
  <dcterms:modified xsi:type="dcterms:W3CDTF">2026-03-12T16:42:11Z</dcterms:modified>
</cp:coreProperties>
</file>